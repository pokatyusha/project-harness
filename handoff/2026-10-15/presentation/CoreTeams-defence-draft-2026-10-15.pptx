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384e5b8831945f6" /><Relationship Type="http://schemas.openxmlformats.org/officeDocument/2006/relationships/extended-properties" Target="/docProps/app.xml" Id="Rf5071915fc7b4398" /><Relationship Type="http://schemas.openxmlformats.org/officeDocument/2006/relationships/officeDocument" Target="/ppt/presentation.xml" Id="Rc91b09d4020b479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5f4b1b8d5514696"/>
  </p:sldMasterIdLst>
  <p:notesMasterIdLst>
    <p:notesMasterId xmlns:r="http://schemas.openxmlformats.org/officeDocument/2006/relationships" r:id="R5da0ea780f174282"/>
  </p:notesMasterIdLst>
  <p:sldIdLst>
    <p:sldId xmlns:r="http://schemas.openxmlformats.org/officeDocument/2006/relationships" id="256" r:id="Rff21dd0a8ce44437"/>
    <p:sldId xmlns:r="http://schemas.openxmlformats.org/officeDocument/2006/relationships" id="257" r:id="R6fb6c529c1194ce5"/>
    <p:sldId xmlns:r="http://schemas.openxmlformats.org/officeDocument/2006/relationships" id="258" r:id="Rdc70ba1ad08849d1"/>
    <p:sldId xmlns:r="http://schemas.openxmlformats.org/officeDocument/2006/relationships" id="259" r:id="Rdcbbb7f75d7f47c6"/>
    <p:sldId xmlns:r="http://schemas.openxmlformats.org/officeDocument/2006/relationships" id="260" r:id="R7621f17cf9d043ec"/>
    <p:sldId xmlns:r="http://schemas.openxmlformats.org/officeDocument/2006/relationships" id="261" r:id="Rfdb3f144d16f42ec"/>
    <p:sldId xmlns:r="http://schemas.openxmlformats.org/officeDocument/2006/relationships" id="262" r:id="R7e9bf8c03fe843e6"/>
    <p:sldId xmlns:r="http://schemas.openxmlformats.org/officeDocument/2006/relationships" id="263" r:id="Rdfa0fff674674095"/>
    <p:sldId xmlns:r="http://schemas.openxmlformats.org/officeDocument/2006/relationships" id="264" r:id="R7ce6595e0bfa4fff"/>
    <p:sldId xmlns:r="http://schemas.openxmlformats.org/officeDocument/2006/relationships" id="265" r:id="R83c5cfd1680e49ef"/>
    <p:sldId xmlns:r="http://schemas.openxmlformats.org/officeDocument/2006/relationships" id="266" r:id="Rfe2192f0622f43c0"/>
    <p:sldId xmlns:r="http://schemas.openxmlformats.org/officeDocument/2006/relationships" id="267" r:id="Ra188f69f41374a82"/>
    <p:sldId xmlns:r="http://schemas.openxmlformats.org/officeDocument/2006/relationships" id="268" r:id="R8cf68e01dac04e80"/>
    <p:sldId xmlns:r="http://schemas.openxmlformats.org/officeDocument/2006/relationships" id="269" r:id="R5105d6c51f91480d"/>
    <p:sldId xmlns:r="http://schemas.openxmlformats.org/officeDocument/2006/relationships" id="270" r:id="R6191c08b608d48c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28410cb6abe43a3" /><Relationship Type="http://schemas.openxmlformats.org/officeDocument/2006/relationships/slideMaster" Target="/ppt/slideMasters/slideMaster1.xml" Id="R25f4b1b8d5514696" /><Relationship Type="http://schemas.openxmlformats.org/officeDocument/2006/relationships/notesMaster" Target="/ppt/notesMasters/notesMaster1.xml" Id="R5da0ea780f174282" /><Relationship Type="http://schemas.openxmlformats.org/officeDocument/2006/relationships/presProps" Target="/ppt/presProps.xml" Id="R9968989dc6744a28" /><Relationship Type="http://schemas.openxmlformats.org/officeDocument/2006/relationships/tableStyles" Target="/ppt/tableStyles.xml" Id="Rafe788dcf0f04b1b" /><Relationship Type="http://schemas.openxmlformats.org/officeDocument/2006/relationships/slide" Target="/ppt/slides/slide1.xml" Id="Rff21dd0a8ce44437" /><Relationship Type="http://schemas.openxmlformats.org/officeDocument/2006/relationships/slide" Target="/ppt/slides/slide2.xml" Id="R6fb6c529c1194ce5" /><Relationship Type="http://schemas.openxmlformats.org/officeDocument/2006/relationships/slide" Target="/ppt/slides/slide3.xml" Id="Rdc70ba1ad08849d1" /><Relationship Type="http://schemas.openxmlformats.org/officeDocument/2006/relationships/slide" Target="/ppt/slides/slide4.xml" Id="Rdcbbb7f75d7f47c6" /><Relationship Type="http://schemas.openxmlformats.org/officeDocument/2006/relationships/slide" Target="/ppt/slides/slide5.xml" Id="R7621f17cf9d043ec" /><Relationship Type="http://schemas.openxmlformats.org/officeDocument/2006/relationships/slide" Target="/ppt/slides/slide6.xml" Id="Rfdb3f144d16f42ec" /><Relationship Type="http://schemas.openxmlformats.org/officeDocument/2006/relationships/slide" Target="/ppt/slides/slide7.xml" Id="R7e9bf8c03fe843e6" /><Relationship Type="http://schemas.openxmlformats.org/officeDocument/2006/relationships/slide" Target="/ppt/slides/slide8.xml" Id="Rdfa0fff674674095" /><Relationship Type="http://schemas.openxmlformats.org/officeDocument/2006/relationships/slide" Target="/ppt/slides/slide9.xml" Id="R7ce6595e0bfa4fff" /><Relationship Type="http://schemas.openxmlformats.org/officeDocument/2006/relationships/slide" Target="/ppt/slides/slide10.xml" Id="R83c5cfd1680e49ef" /><Relationship Type="http://schemas.openxmlformats.org/officeDocument/2006/relationships/slide" Target="/ppt/slides/slide11.xml" Id="Rfe2192f0622f43c0" /><Relationship Type="http://schemas.openxmlformats.org/officeDocument/2006/relationships/slide" Target="/ppt/slides/slide12.xml" Id="Ra188f69f41374a82" /><Relationship Type="http://schemas.openxmlformats.org/officeDocument/2006/relationships/slide" Target="/ppt/slides/slide13.xml" Id="R8cf68e01dac04e80" /><Relationship Type="http://schemas.openxmlformats.org/officeDocument/2006/relationships/slide" Target="/ppt/slides/slide14.xml" Id="R5105d6c51f91480d" /><Relationship Type="http://schemas.openxmlformats.org/officeDocument/2006/relationships/slide" Target="/ppt/slides/slide15.xml" Id="R6191c08b608d48c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b0119b37394d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5385e86d3d4fb9" /><Relationship Type="http://schemas.openxmlformats.org/officeDocument/2006/relationships/notesMaster" Target="/ppt/notesMasters/notesMaster1.xml" Id="R41de44d88b9548d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0379864cfbf4945" /><Relationship Type="http://schemas.openxmlformats.org/officeDocument/2006/relationships/notesMaster" Target="/ppt/notesMasters/notesMaster1.xml" Id="Ra27dca6363ce4f6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c941c20e6164373" /><Relationship Type="http://schemas.openxmlformats.org/officeDocument/2006/relationships/notesMaster" Target="/ppt/notesMasters/notesMaster1.xml" Id="Ra3bd2d43c92b47b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4307226adef437a" /><Relationship Type="http://schemas.openxmlformats.org/officeDocument/2006/relationships/notesMaster" Target="/ppt/notesMasters/notesMaster1.xml" Id="R726f97402c2e4b8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d70593871504a2e" /><Relationship Type="http://schemas.openxmlformats.org/officeDocument/2006/relationships/notesMaster" Target="/ppt/notesMasters/notesMaster1.xml" Id="R5f1e6b1e9fe041f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1deab7a5625471a" /><Relationship Type="http://schemas.openxmlformats.org/officeDocument/2006/relationships/notesMaster" Target="/ppt/notesMasters/notesMaster1.xml" Id="R134fa31297b649c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7e337213bc646f0" /><Relationship Type="http://schemas.openxmlformats.org/officeDocument/2006/relationships/notesMaster" Target="/ppt/notesMasters/notesMaster1.xml" Id="R422e34efc53a40a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0bfae61800c4db1" /><Relationship Type="http://schemas.openxmlformats.org/officeDocument/2006/relationships/notesMaster" Target="/ppt/notesMasters/notesMaster1.xml" Id="Ra51d2191633942f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255f6d34c884a9b" /><Relationship Type="http://schemas.openxmlformats.org/officeDocument/2006/relationships/notesMaster" Target="/ppt/notesMasters/notesMaster1.xml" Id="R93ebcb53db214a7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34ff10867ce4960" /><Relationship Type="http://schemas.openxmlformats.org/officeDocument/2006/relationships/notesMaster" Target="/ppt/notesMasters/notesMaster1.xml" Id="R76bc383716e547d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a523839646540f3" /><Relationship Type="http://schemas.openxmlformats.org/officeDocument/2006/relationships/notesMaster" Target="/ppt/notesMasters/notesMaster1.xml" Id="R3fc59766d03541e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8531d95501049b9" /><Relationship Type="http://schemas.openxmlformats.org/officeDocument/2006/relationships/notesMaster" Target="/ppt/notesMasters/notesMaster1.xml" Id="Red2fb29e496442b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e0a7d05a51a4f6f" /><Relationship Type="http://schemas.openxmlformats.org/officeDocument/2006/relationships/notesMaster" Target="/ppt/notesMasters/notesMaster1.xml" Id="Rbdb8f541205e43f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0d6aca5f1c64ec6" /><Relationship Type="http://schemas.openxmlformats.org/officeDocument/2006/relationships/notesMaster" Target="/ppt/notesMasters/notesMaster1.xml" Id="Rc86970a3d8954b4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e84ac17a3a74dcf" /><Relationship Type="http://schemas.openxmlformats.org/officeDocument/2006/relationships/notesMaster" Target="/ppt/notesMasters/notesMaster1.xml" Id="R2b9ad0b1dcad4ff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черновик защиты для владельца небольшого бизнеса или человека, который ведёт идею проекта без команды. Мы проверяем узкую продуктовую гипотезу: может ли source-traceable brief помочь сделать следующий шаг по задаче вне собственной экспертизы. Исследовательских сессий и продуктовых результатов пока нет.</a:t>
            </a:r>
          </a:p>
          <a:p xmlns:a="http://schemas.openxmlformats.org/drawingml/2006/main">
            <a:r>
              <a:t>Источники: S1, S3.</a:t>
            </a:r>
          </a:p>
          <a:p xmlns:a="http://schemas.openxmlformats.org/drawingml/2006/main">
            <a:r>
              <a:t>Evidence status: S1, S3. Черновик, требует обновления по фактическим результатам перед защитой.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 анкете R02 респондент ведёт проект самостоятельно, берёт задачи за пределами своей экспертизы и описывает сложности с постановкой задачи, проверкой результата и повторной сверкой. Это единичное наблюдение для выбора следующего исследования, а не доказательство распространённости проблемы.</a:t>
            </a:r>
          </a:p>
          <a:p xmlns:a="http://schemas.openxmlformats.org/drawingml/2006/main">
            <a:r>
              <a:t>Источники: S1 (pilot-package.md, разделы Decision and evidence boundary и Baseline before prototype).</a:t>
            </a:r>
          </a:p>
          <a:p xmlns:a="http://schemas.openxmlformats.org/drawingml/2006/main">
            <a:r>
              <a:t>Evidence status: S1. Черновик, требует обновления по фактическим результатам перед защитой.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R02 указал поиск в интернете, AI и подрядчика как используемые способы. Также в пакете зафиксированы повторная проверка и итоговые документы со ссылками. Диапазон длительности смешивает разные задачи, поэтому мы не переносим его на будущий baseline.</a:t>
            </a:r>
          </a:p>
          <a:p xmlns:a="http://schemas.openxmlformats.org/drawingml/2006/main">
            <a:r>
              <a:t>Источники: S1, раздел Decision and evidence boundary.</a:t>
            </a:r>
          </a:p>
          <a:p xmlns:a="http://schemas.openxmlformats.org/drawingml/2006/main">
            <a:r>
              <a:t>Evidence status: S1. Черновик, требует обновления по фактическим результатам перед защитой.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исходной форме восемь ответов. Только R02 однозначно соответствует выбранному контексту владельца/основателя без команды. Воля участвовать не отмечена, контакт отсутствует, согласие на исследовательскую сессию отдельно не собиралось. R03, R05 и R08 не объявляются целевыми пользователями.</a:t>
            </a:r>
          </a:p>
          <a:p xmlns:a="http://schemas.openxmlformats.org/drawingml/2006/main">
            <a:r>
              <a:t>Источники: S1, разделы Segment, JTBD, and eligibility и Privacy-safe screening inventory.</a:t>
            </a:r>
          </a:p>
          <a:p xmlns:a="http://schemas.openxmlformats.org/drawingml/2006/main">
            <a:r>
              <a:t>Evidence status: S1. Черновик, требует обновления по фактическим результатам перед защитой.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пилотном пакете описаны три task-proto гипотезы. Sprint 1 совпадает с предварительным профилем R02, но до допуска нужен конкретный безопасный кейс, доступ к участнику и отдельное согласие. Для Sprint 2 и Sprint 3 нужны свои подходящие участники; R05 и R03 не засчитываются автоматически.</a:t>
            </a:r>
          </a:p>
          <a:p xmlns:a="http://schemas.openxmlformats.org/drawingml/2006/main">
            <a:r>
              <a:t>Источники: S1, таблица Three sprint task hypotheses и правила advance Sprint.</a:t>
            </a:r>
          </a:p>
          <a:p xmlns:a="http://schemas.openxmlformats.org/drawingml/2006/main">
            <a:r>
              <a:t>Evidence status: S1. Черновик, требует обновления по фактическим результатам перед защитой.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Пилотный пакет определяет первый артефакт как source-linked decision brief и ZIP с результатом, таблицей источников и метаданными. В данных должно быть видно, где факт, вывод, ограничение или неизвестность. CTF-адаптация навыка, архитектура хранения и полный E2E пока не подтверждены.</a:t>
            </a:r>
          </a:p>
          <a:p xmlns:a="http://schemas.openxmlformats.org/drawingml/2006/main">
            <a:r>
              <a:t>Источники: S1, разделы Segment, JTBD, and eligibility и ZIP deliverable contract; S3.</a:t>
            </a:r>
          </a:p>
          <a:p xmlns:a="http://schemas.openxmlformats.org/drawingml/2006/main">
            <a:r>
              <a:t>Evidence status: S1, S3. Черновик, требует обновления по фактическим результатам перед защитой.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переданных материалах не зафиксированы результаты предыдущей защиты. Поэтому слайд показывает единственное имеющееся предварительное свидетельство и честную границу: продуктовых сессий, baseline и пилотных замеров ещё нет. Длительности нескольких разных задач из анкеты не служат сравнительной базой.</a:t>
            </a:r>
          </a:p>
          <a:p xmlns:a="http://schemas.openxmlformats.org/drawingml/2006/main">
            <a:r>
              <a:t>Источники: S1 (разделы Decision and evidence boundary, Baseline before prototype, Measurement form and comparison); S2.</a:t>
            </a:r>
          </a:p>
          <a:p xmlns:a="http://schemas.openxmlformats.org/drawingml/2006/main">
            <a:r>
              <a:t>Evidence status: S1, S2. Черновик, требует обновления по фактическим результатам перед защитой.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План исследования и техническая проверка — разные линии работы. В пилоте user results стоят NOT_RUN. WEB-разработка идёт в изолированном handoff и её проверка не доказывает готовность CTF, серверного сохранения или deployment.</a:t>
            </a:r>
          </a:p>
          <a:p xmlns:a="http://schemas.openxmlformats.org/drawingml/2006/main">
            <a:r>
              <a:t>Источники: S1; S2 (Current handoff state); S3.</a:t>
            </a:r>
          </a:p>
          <a:p xmlns:a="http://schemas.openxmlformats.org/drawingml/2006/main">
            <a:r>
              <a:t>Evidence status: S1, S2, S3. Черновик, требует обновления по фактическим результатам перед защитой.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задаёт проверяемый порядок будущего демо для первого task hypothesis. Доступные источники не дают оснований вставлять скриншот как доказательство: WEB build и реализацию ещё нужно сверить, сохранение и ZIP должны пройти E2E. Не демонстрировать локальную имитацию как пользовательский результат.</a:t>
            </a:r>
          </a:p>
          <a:p xmlns:a="http://schemas.openxmlformats.org/drawingml/2006/main">
            <a:r>
              <a:t>Источники: S1 (Deployment gate, second message, and E2E check); S3.</a:t>
            </a:r>
          </a:p>
          <a:p xmlns:a="http://schemas.openxmlformats.org/drawingml/2006/main">
            <a:r>
              <a:t>Evidence status: S1, S3. Черновик, требует обновления по фактическим результатам перед защитой.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R02 назвал поиск, AI и подрядчика. Пилотный протокол предлагает проверять на том же task и decision, с тем же качественным порогом и инструментами, насколько сопоставимы baseline и prototype. Имена конкурентов, их цены и преимущества в подтверждённых данных отсутствуют.</a:t>
            </a:r>
          </a:p>
          <a:p xmlns:a="http://schemas.openxmlformats.org/drawingml/2006/main">
            <a:r>
              <a:t>Источники: S1 (Decision and evidence boundary; Baseline before prototype; Measurement form and comparison).</a:t>
            </a:r>
          </a:p>
          <a:p xmlns:a="http://schemas.openxmlformats.org/drawingml/2006/main">
            <a:r>
              <a:t>Evidence status: S1. Черновик, требует обновления по фактическим результатам перед защитой.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Пакет определяет отдельные поля для baseline и prototype, включая активное время, ожидание, паузы, работу с источниками, ошибки и оценки участника. Записей сессий пока нет. Ноль запусков не подменяет неизвестные значения в будущей таблице сессий.</a:t>
            </a:r>
          </a:p>
          <a:p xmlns:a="http://schemas.openxmlformats.org/drawingml/2006/main">
            <a:r>
              <a:t>Источники: S1, разделы Measurement form and comparison и E2E checklist; S2.</a:t>
            </a:r>
          </a:p>
          <a:p xmlns:a="http://schemas.openxmlformats.org/drawingml/2006/main">
            <a:r>
              <a:t>Evidence status: S1, S2. Черновик, требует обновления по фактическим результатам перед защитой.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фиксирует измерительные входы, а не тарифную рекомендацию. Для одного сопоставимого task нужно записать активную работу, ожидание и rework в обоих режимах, а также прямые затраты на запуск. В текущем пакете чисел себестоимости, готовности платить или цены нет.</a:t>
            </a:r>
          </a:p>
          <a:p xmlns:a="http://schemas.openxmlformats.org/drawingml/2006/main">
            <a:r>
              <a:t>Источники: S1 (Measurement form and comparison; Dependencies and dates). Значения тарифа отсутствуют.</a:t>
            </a:r>
          </a:p>
          <a:p xmlns:a="http://schemas.openxmlformats.org/drawingml/2006/main">
            <a:r>
              <a:t>Evidence status: S1. Черновик, требует обновления по фактическим результатам перед защитой.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Пилот запускается только после допуска участника и реального DEPLOYMENT_READY. Согласие на baseline и запрос на prototype session разделены. T0 и срок результатов записаны в передаче; точного часа пятничной задачи Филиппа источники не подтверждают, поэтому здесь он не придуман.</a:t>
            </a:r>
          </a:p>
          <a:p xmlns:a="http://schemas.openxmlformats.org/drawingml/2006/main">
            <a:r>
              <a:t>Источники: S1 (Deployment gate, second message, and E2E check; Dependencies and dates); S2; S3.</a:t>
            </a:r>
          </a:p>
          <a:p xmlns:a="http://schemas.openxmlformats.org/drawingml/2006/main">
            <a:r>
              <a:t>Evidence status: S1, S2, S3. Черновик, требует обновления по фактическим результатам перед защитой.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Владелец подтвердил main React/Vite/TypeScript build, восемь unit checks и ранее пройденные browser checks для desktop/mobile. Версии: React 19.3.0, Vite 8.3.4, TypeScript 5.9, сборка на Node 24.19.0. API adapter предложен; live CTF, серверное сохранение и серверная интеграция не реализованы. Browser draft не является гарантией постоянного хранения.</a:t>
            </a:r>
          </a:p>
          <a:p xmlns:a="http://schemas.openxmlformats.org/drawingml/2006/main">
            <a:r>
              <a:t>Источники: S3 (HANDOFF-WEB.md); S2 (Current handoff state); S4 (handoff index); S5 (owner verification update, 15.10.2026).</a:t>
            </a:r>
          </a:p>
          <a:p xmlns:a="http://schemas.openxmlformats.org/drawingml/2006/main">
            <a:r>
              <a:t>Evidence status: S2, S3, S4, S5. Черновик, требует обновления по фактическим результатам перед защитой.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Роли взяты из handoff index. Дмитрий остаётся условным резервом и не получает самостоятельных задач без конкретного запроса Кати. Сейчас нужно закрыть обязательные технические материалы и целевой набор участника; публикация Wiki и принятие задач не считаются завершёнными только по наличию локального draft.</a:t>
            </a:r>
          </a:p>
          <a:p xmlns:a="http://schemas.openxmlformats.org/drawingml/2006/main">
            <a:r>
              <a:t>Источники: S2 (Current handoff state); S4 (индекс передачи, текущая редакция).</a:t>
            </a:r>
          </a:p>
          <a:p xmlns:a="http://schemas.openxmlformats.org/drawingml/2006/main">
            <a:r>
              <a:t>Evidence status: S2, S4. Черновик, требует обновления по фактическим результатам перед защитой.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24c731718b48b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917378ab714e3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e4481114014e1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7c981635af4e7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022081759445f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7ad068b64f4e9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04001E0-7C41-422C-953F-129C2C1968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A2A8E46-8500-495A-BC07-0AAD0187A29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BA41172-3037-40DC-8F23-44960516C5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2488FBE-90D4-4C95-BA05-DCED7F0683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3B41327-5187-4B03-97D8-42A6ED60D0D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0706A9F-570F-4CAE-AF69-1E8200F53C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BF68BEA-01A3-4EAE-BD5F-5CDD917D5B8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9D08183-22EA-4F30-8853-751D8774E15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31728AF-A0F5-431C-8E6B-59C95D6A69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7B36BE1-5731-40EE-80E9-1419DF41691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9f62e6e63554c85" /><Relationship Type="http://schemas.openxmlformats.org/officeDocument/2006/relationships/slideLayout" Target="/ppt/slideLayouts/slideLayout1.xml" Id="Rbe0ed98b2fc84833" /><Relationship Type="http://schemas.openxmlformats.org/officeDocument/2006/relationships/slideLayout" Target="/ppt/slideLayouts/slideLayout2.xml" Id="R29a3d01f1dfe427d" /><Relationship Type="http://schemas.openxmlformats.org/officeDocument/2006/relationships/slideLayout" Target="/ppt/slideLayouts/slideLayout3.xml" Id="R4e88ea00161f4393" /><Relationship Type="http://schemas.openxmlformats.org/officeDocument/2006/relationships/slideLayout" Target="/ppt/slideLayouts/slideLayout4.xml" Id="Ra08d6403fee0461c" /><Relationship Type="http://schemas.openxmlformats.org/officeDocument/2006/relationships/slideLayout" Target="/ppt/slideLayouts/slideLayout5.xml" Id="R15bdf465c3c645f0" /><Relationship Type="http://schemas.openxmlformats.org/officeDocument/2006/relationships/slideLayout" Target="/ppt/slideLayouts/slideLayout6.xml" Id="R8ed4858160b14d1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0ed98b2fc84833"/>
    <p:sldLayoutId xmlns:r="http://schemas.openxmlformats.org/officeDocument/2006/relationships" id="2147483650" r:id="R29a3d01f1dfe427d"/>
    <p:sldLayoutId xmlns:r="http://schemas.openxmlformats.org/officeDocument/2006/relationships" id="2147483651" r:id="R4e88ea00161f4393"/>
    <p:sldLayoutId xmlns:r="http://schemas.openxmlformats.org/officeDocument/2006/relationships" id="2147483652" r:id="Ra08d6403fee0461c"/>
    <p:sldLayoutId xmlns:r="http://schemas.openxmlformats.org/officeDocument/2006/relationships" id="2147483653" r:id="R15bdf465c3c645f0"/>
    <p:sldLayoutId xmlns:r="http://schemas.openxmlformats.org/officeDocument/2006/relationships" id="2147483654" r:id="R8ed4858160b14d1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d1d359fedd430d" /><Relationship Type="http://schemas.openxmlformats.org/officeDocument/2006/relationships/notesSlide" Target="/ppt/notesSlides/notesSlide1.xml" Id="R2c6ebaeafa994ac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f2c7a20a3c4834" /><Relationship Type="http://schemas.openxmlformats.org/officeDocument/2006/relationships/notesSlide" Target="/ppt/notesSlides/notesSlide2.xml" Id="Ra677bf696f7043d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8f25e97f774c71" /><Relationship Type="http://schemas.openxmlformats.org/officeDocument/2006/relationships/notesSlide" Target="/ppt/notesSlides/notesSlide3.xml" Id="R5658811e70dd41b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bf62c1bdaa488e" /><Relationship Type="http://schemas.openxmlformats.org/officeDocument/2006/relationships/notesSlide" Target="/ppt/notesSlides/notesSlide4.xml" Id="R7d19f547875b4b4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da6da29db94f9e" /><Relationship Type="http://schemas.openxmlformats.org/officeDocument/2006/relationships/notesSlide" Target="/ppt/notesSlides/notesSlide5.xml" Id="R979ee87fdfdd47a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aad860c3454c10" /><Relationship Type="http://schemas.openxmlformats.org/officeDocument/2006/relationships/notesSlide" Target="/ppt/notesSlides/notesSlide6.xml" Id="R821b2da423e84eb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dc9736cb224d1c" /><Relationship Type="http://schemas.openxmlformats.org/officeDocument/2006/relationships/notesSlide" Target="/ppt/notesSlides/notesSlide7.xml" Id="R7d4ae5d19508400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7247497850445c" /><Relationship Type="http://schemas.openxmlformats.org/officeDocument/2006/relationships/notesSlide" Target="/ppt/notesSlides/notesSlide8.xml" Id="R2f8e4ec58fda45b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e8243a4c5a4914" /><Relationship Type="http://schemas.openxmlformats.org/officeDocument/2006/relationships/notesSlide" Target="/ppt/notesSlides/notesSlide9.xml" Id="Rfe4ca602e1e74c0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3ef6aaf7fa4e12" /><Relationship Type="http://schemas.openxmlformats.org/officeDocument/2006/relationships/notesSlide" Target="/ppt/notesSlides/notesSlide10.xml" Id="Rf4b2f791b96d463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f13beb81bc4a0b" /><Relationship Type="http://schemas.openxmlformats.org/officeDocument/2006/relationships/notesSlide" Target="/ppt/notesSlides/notesSlide11.xml" Id="R99a7e641dc5f497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67277b682e4e33" /><Relationship Type="http://schemas.openxmlformats.org/officeDocument/2006/relationships/notesSlide" Target="/ppt/notesSlides/notesSlide12.xml" Id="R4c8fca3560104f5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a21046afbd4ad8" /><Relationship Type="http://schemas.openxmlformats.org/officeDocument/2006/relationships/notesSlide" Target="/ppt/notesSlides/notesSlide13.xml" Id="R084b095ed5fa48c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bae376c4ff4653" /><Relationship Type="http://schemas.openxmlformats.org/officeDocument/2006/relationships/notesSlide" Target="/ppt/notesSlides/notesSlide14.xml" Id="Rda928b934657405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2c6000526c419a" /><Relationship Type="http://schemas.openxmlformats.org/officeDocument/2006/relationships/notesSlide" Target="/ppt/notesSlides/notesSlide15.xml" Id="R0c79ac8cf356492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76-78-ЗАЩИТА ПРОЕКТА · 15 ОКТЯБРЯ ">
            <a:extLst xmlns:a="http://schemas.openxmlformats.org/drawingml/2006/main">
              <a:ext uri="{FF2B5EF4-FFF2-40B4-BE49-F238E27FC236}">
                <a16:creationId xmlns:a16="http://schemas.microsoft.com/office/drawing/2014/main" id="{C2903703-5B14-4324-922B-3F9A264B0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052FF"/>
                </a:solidFill>
                <a:latin typeface="Arial"/>
                <a:ea typeface="Arial"/>
                <a:cs typeface="Arial"/>
              </a:rPr>
              <a:t>ЗАЩИТА ПРОЕКТА · 15 ОКТЯБРЯ 2026</a:t>
            </a:r>
          </a:p>
        </p:txBody>
      </p:sp>
      <p:sp>
        <p:nvSpPr>
          <p:cNvPr id="2" name="text-70-146-CoreTeams">
            <a:extLst xmlns:a="http://schemas.openxmlformats.org/drawingml/2006/main">
              <a:ext uri="{FF2B5EF4-FFF2-40B4-BE49-F238E27FC236}">
                <a16:creationId xmlns:a16="http://schemas.microsoft.com/office/drawing/2014/main" id="{1F2B7299-8D27-4896-84CD-41BC5B49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9048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7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CoreTeams</a:t>
            </a:r>
          </a:p>
        </p:txBody>
      </p:sp>
      <p:sp>
        <p:nvSpPr>
          <p:cNvPr id="3" name="text-72-292-Проверяемый аналитический бр">
            <a:extLst xmlns:a="http://schemas.openxmlformats.org/drawingml/2006/main">
              <a:ext uri="{FF2B5EF4-FFF2-40B4-BE49-F238E27FC236}">
                <a16:creationId xmlns:a16="http://schemas.microsoft.com/office/drawing/2014/main" id="{43AED5AF-E292-4E92-B0E4-6EC5B586E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8572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850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D8D8D8"/>
                </a:solidFill>
                <a:latin typeface="Arial"/>
                <a:ea typeface="Arial"/>
                <a:cs typeface="Arial"/>
              </a:rPr>
              <a:t>Проверяемый аналитический бриф для решений за пределами экспертизы владельца</a:t>
            </a:r>
          </a:p>
        </p:txBody>
      </p:sp>
      <p:sp>
        <p:nvSpPr>
          <p:cNvPr id="4" name="text-76-588-Черновик по доступным матери">
            <a:extLst xmlns:a="http://schemas.openxmlformats.org/drawingml/2006/main">
              <a:ext uri="{FF2B5EF4-FFF2-40B4-BE49-F238E27FC236}">
                <a16:creationId xmlns:a16="http://schemas.microsoft.com/office/drawing/2014/main" id="{C9F3A684-0FE5-4DC4-BC97-34736692E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007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9A9A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9A9A9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A9A9A"/>
                </a:solidFill>
                <a:latin typeface="Arial"/>
                <a:ea typeface="Arial"/>
                <a:cs typeface="Arial"/>
              </a:rPr>
              <a:t>Черновик по доступным материалам. Пользовательские результаты ещё не получены.</a:t>
            </a:r>
          </a:p>
        </p:txBody>
      </p:sp>
    </p:spTree>
    <p:extLst>
      <p:ext uri="{BB962C8B-B14F-4D97-AF65-F5344CB8AC3E}">
        <p14:creationId xmlns:p14="http://schemas.microsoft.com/office/powerpoint/2010/main" val="17133562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78-47-02 · ПРОБЛЕМА">
            <a:extLst xmlns:a="http://schemas.openxmlformats.org/drawingml/2006/main">
              <a:ext uri="{FF2B5EF4-FFF2-40B4-BE49-F238E27FC236}">
                <a16:creationId xmlns:a16="http://schemas.microsoft.com/office/drawing/2014/main" id="{5987DC94-A33B-44D4-A723-1193FC36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052FF"/>
                </a:solidFill>
                <a:latin typeface="Arial"/>
                <a:ea typeface="Arial"/>
                <a:cs typeface="Arial"/>
              </a:rPr>
              <a:t>02 · ПРОБЛЕМА</a:t>
            </a:r>
          </a:p>
        </p:txBody>
      </p:sp>
      <p:sp>
        <p:nvSpPr>
          <p:cNvPr id="2" name="text-78-95-Самостоятельный владелец сам">
            <a:extLst xmlns:a="http://schemas.openxmlformats.org/drawingml/2006/main">
              <a:ext uri="{FF2B5EF4-FFF2-40B4-BE49-F238E27FC236}">
                <a16:creationId xmlns:a16="http://schemas.microsoft.com/office/drawing/2014/main" id="{43882611-2E62-4988-8868-896D821F0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04875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Самостоятельный владелец сам собирает решение в незнакомой области</a:t>
            </a:r>
          </a:p>
        </p:txBody>
      </p:sp>
      <p:sp>
        <p:nvSpPr>
          <p:cNvPr id="3" name="text-82-238-Найти материалы мало">
            <a:extLst xmlns:a="http://schemas.openxmlformats.org/drawingml/2006/main">
              <a:ext uri="{FF2B5EF4-FFF2-40B4-BE49-F238E27FC236}">
                <a16:creationId xmlns:a16="http://schemas.microsoft.com/office/drawing/2014/main" id="{886B62FA-BB22-4758-BC9E-CAB70CE2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371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Найти материалы мало</a:t>
            </a:r>
          </a:p>
        </p:txBody>
      </p:sp>
      <p:sp>
        <p:nvSpPr>
          <p:cNvPr id="4" name="text-82-308-Нужно понять, какие источник">
            <a:extLst xmlns:a="http://schemas.openxmlformats.org/drawingml/2006/main">
              <a:ext uri="{FF2B5EF4-FFF2-40B4-BE49-F238E27FC236}">
                <a16:creationId xmlns:a16="http://schemas.microsoft.com/office/drawing/2014/main" id="{F5E317B0-D51E-4A9C-A1E7-26362FB5B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33700"/>
            <a:ext cx="400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75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8D8D8"/>
                </a:solidFill>
                <a:latin typeface="Arial"/>
                <a:ea typeface="Arial"/>
                <a:cs typeface="Arial"/>
              </a:rPr>
              <a:t>Нужно понять, какие источники заслуживают доверия и где они расходятся.</a:t>
            </a:r>
          </a:p>
        </p:txBody>
      </p:sp>
      <p:sp>
        <p:nvSpPr>
          <p:cNvPr id="5" name="text-690-238-Проверка отнимает время">
            <a:extLst xmlns:a="http://schemas.openxmlformats.org/drawingml/2006/main">
              <a:ext uri="{FF2B5EF4-FFF2-40B4-BE49-F238E27FC236}">
                <a16:creationId xmlns:a16="http://schemas.microsoft.com/office/drawing/2014/main" id="{FF53790B-DE96-46BD-BD08-D55351795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66950"/>
            <a:ext cx="457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Проверка отнимает время</a:t>
            </a:r>
          </a:p>
        </p:txBody>
      </p:sp>
      <p:sp>
        <p:nvSpPr>
          <p:cNvPr id="6" name="text-690-308-Без своей команды владелец п">
            <a:extLst xmlns:a="http://schemas.openxmlformats.org/drawingml/2006/main">
              <a:ext uri="{FF2B5EF4-FFF2-40B4-BE49-F238E27FC236}">
                <a16:creationId xmlns:a16="http://schemas.microsoft.com/office/drawing/2014/main" id="{F28BC83E-0B23-45AB-B114-FBBDD132B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33700"/>
            <a:ext cx="4476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75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8D8D8"/>
                </a:solidFill>
                <a:latin typeface="Arial"/>
                <a:ea typeface="Arial"/>
                <a:cs typeface="Arial"/>
              </a:rPr>
              <a:t>Без своей команды владелец перепроверяет выводы и снова собирает документ.</a:t>
            </a:r>
          </a:p>
        </p:txBody>
      </p:sp>
      <p:sp>
        <p:nvSpPr>
          <p:cNvPr id="7" name="text-82-565-Наблюдение из анкеты R02. Од">
            <a:extLst xmlns:a="http://schemas.openxmlformats.org/drawingml/2006/main">
              <a:ext uri="{FF2B5EF4-FFF2-40B4-BE49-F238E27FC236}">
                <a16:creationId xmlns:a16="http://schemas.microsoft.com/office/drawing/2014/main" id="{6260A655-1F05-4FDF-B370-33841E2C1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8162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0">
                <a:solidFill>
                  <a:srgbClr val="FFB8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FFB82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B829"/>
                </a:solidFill>
                <a:latin typeface="Arial"/>
                <a:ea typeface="Arial"/>
                <a:cs typeface="Arial"/>
              </a:rPr>
              <a:t>Наблюдение из анкеты R02. Один ответ описывает контекст, не частоту проблемы на рынке.</a:t>
            </a:r>
          </a:p>
        </p:txBody>
      </p:sp>
      <p:sp>
        <p:nvSpPr>
          <p:cNvPr id="8" name="text-1150-668-02">
            <a:extLst xmlns:a="http://schemas.openxmlformats.org/drawingml/2006/main">
              <a:ext uri="{FF2B5EF4-FFF2-40B4-BE49-F238E27FC236}">
                <a16:creationId xmlns:a16="http://schemas.microsoft.com/office/drawing/2014/main" id="{FBED53C3-3ED4-4608-A71E-52A26C8AB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125" b="0">
                <a:solidFill>
                  <a:srgbClr val="5F5F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F5F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5F5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103508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78-47-03 · ТЕКУЩИЙ СПОСОБ">
            <a:extLst xmlns:a="http://schemas.openxmlformats.org/drawingml/2006/main">
              <a:ext uri="{FF2B5EF4-FFF2-40B4-BE49-F238E27FC236}">
                <a16:creationId xmlns:a16="http://schemas.microsoft.com/office/drawing/2014/main" id="{16F94CD0-4BA6-4176-8D36-BF19AAE08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052FF"/>
                </a:solidFill>
                <a:latin typeface="Arial"/>
                <a:ea typeface="Arial"/>
                <a:cs typeface="Arial"/>
              </a:rPr>
              <a:t>03 · ТЕКУЩИЙ СПОСОБ</a:t>
            </a:r>
          </a:p>
        </p:txBody>
      </p:sp>
      <p:sp>
        <p:nvSpPr>
          <p:cNvPr id="2" name="text-78-95-Сейчас R02 совмещает поиск, ">
            <a:extLst xmlns:a="http://schemas.openxmlformats.org/drawingml/2006/main">
              <a:ext uri="{FF2B5EF4-FFF2-40B4-BE49-F238E27FC236}">
                <a16:creationId xmlns:a16="http://schemas.microsoft.com/office/drawing/2014/main" id="{FB50447F-505A-4E0F-809C-5DDC8AAE4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04875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Сейчас R02 совмещает поиск, AI и помощь подрядчика</a:t>
            </a:r>
          </a:p>
        </p:txBody>
      </p:sp>
      <p:sp>
        <p:nvSpPr>
          <p:cNvPr id="3" name="text-78-238-Поиск в сети">
            <a:extLst xmlns:a="http://schemas.openxmlformats.org/drawingml/2006/main">
              <a:ext uri="{FF2B5EF4-FFF2-40B4-BE49-F238E27FC236}">
                <a16:creationId xmlns:a16="http://schemas.microsoft.com/office/drawing/2014/main" id="{BBE9AF49-BB08-4BFD-AF6A-56A2AE7A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Поиск в сети</a:t>
            </a:r>
          </a:p>
        </p:txBody>
      </p:sp>
      <p:sp>
        <p:nvSpPr>
          <p:cNvPr id="4" name="text-78-304-Собрать материалы по задаче">
            <a:extLst xmlns:a="http://schemas.openxmlformats.org/drawingml/2006/main">
              <a:ext uri="{FF2B5EF4-FFF2-40B4-BE49-F238E27FC236}">
                <a16:creationId xmlns:a16="http://schemas.microsoft.com/office/drawing/2014/main" id="{EBFA8005-3B9A-4A5B-95D8-6022BF9F9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95600"/>
            <a:ext cx="257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9A9A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9A9A9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9A9A9A"/>
                </a:solidFill>
                <a:latin typeface="Arial"/>
                <a:ea typeface="Arial"/>
                <a:cs typeface="Arial"/>
              </a:rPr>
              <a:t>Собрать материалы по задаче</a:t>
            </a:r>
          </a:p>
        </p:txBody>
      </p:sp>
      <p:sp>
        <p:nvSpPr>
          <p:cNvPr id="5" name="text-442-238-AI и специалист">
            <a:extLst xmlns:a="http://schemas.openxmlformats.org/drawingml/2006/main">
              <a:ext uri="{FF2B5EF4-FFF2-40B4-BE49-F238E27FC236}">
                <a16:creationId xmlns:a16="http://schemas.microsoft.com/office/drawing/2014/main" id="{9E7B27E2-1955-4850-B20D-F83E324B7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2669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 и специалист</a:t>
            </a:r>
          </a:p>
        </p:txBody>
      </p:sp>
      <p:sp>
        <p:nvSpPr>
          <p:cNvPr id="6" name="text-442-304-Получить помощь и сопоставит">
            <a:extLst xmlns:a="http://schemas.openxmlformats.org/drawingml/2006/main">
              <a:ext uri="{FF2B5EF4-FFF2-40B4-BE49-F238E27FC236}">
                <a16:creationId xmlns:a16="http://schemas.microsoft.com/office/drawing/2014/main" id="{39CA106C-04BC-4DFA-842F-6FF3608E5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895600"/>
            <a:ext cx="314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9A9A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9A9A9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9A9A9A"/>
                </a:solidFill>
                <a:latin typeface="Arial"/>
                <a:ea typeface="Arial"/>
                <a:cs typeface="Arial"/>
              </a:rPr>
              <a:t>Получить помощь и сопоставить ответы</a:t>
            </a:r>
          </a:p>
        </p:txBody>
      </p:sp>
      <p:sp>
        <p:nvSpPr>
          <p:cNvPr id="7" name="text-850-238-Повторная сверка">
            <a:extLst xmlns:a="http://schemas.openxmlformats.org/drawingml/2006/main">
              <a:ext uri="{FF2B5EF4-FFF2-40B4-BE49-F238E27FC236}">
                <a16:creationId xmlns:a16="http://schemas.microsoft.com/office/drawing/2014/main" id="{DB9BA32C-797E-440B-BD75-E7111F57B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6695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Повторная сверка</a:t>
            </a:r>
          </a:p>
        </p:txBody>
      </p:sp>
      <p:sp>
        <p:nvSpPr>
          <p:cNvPr id="8" name="text-850-304-Свести результат в документ ">
            <a:extLst xmlns:a="http://schemas.openxmlformats.org/drawingml/2006/main">
              <a:ext uri="{FF2B5EF4-FFF2-40B4-BE49-F238E27FC236}">
                <a16:creationId xmlns:a16="http://schemas.microsoft.com/office/drawing/2014/main" id="{06B87EDB-A7C0-424F-BA9C-78F8DF8D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95600"/>
            <a:ext cx="333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9A9A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9A9A9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9A9A9A"/>
                </a:solidFill>
                <a:latin typeface="Arial"/>
                <a:ea typeface="Arial"/>
                <a:cs typeface="Arial"/>
              </a:rPr>
              <a:t>Свести результат в документ со ссылками</a:t>
            </a:r>
          </a:p>
        </p:txBody>
      </p:sp>
      <p:sp>
        <p:nvSpPr>
          <p:cNvPr id="9" name="text-78-560-Так респондент описал нескол">
            <a:extLst xmlns:a="http://schemas.openxmlformats.org/drawingml/2006/main">
              <a:ext uri="{FF2B5EF4-FFF2-40B4-BE49-F238E27FC236}">
                <a16:creationId xmlns:a16="http://schemas.microsoft.com/office/drawing/2014/main" id="{61F5E5C5-ECD2-4ACE-9C8F-8FF7D61A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340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0">
                <a:solidFill>
                  <a:srgbClr val="FFB8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FFB82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B829"/>
                </a:solidFill>
                <a:latin typeface="Arial"/>
                <a:ea typeface="Arial"/>
                <a:cs typeface="Arial"/>
              </a:rPr>
              <a:t>Так респондент описал несколько разных задач. Длительность из анкеты нельзя считать базовой скоростью одной задачи.</a:t>
            </a:r>
          </a:p>
        </p:txBody>
      </p:sp>
      <p:sp>
        <p:nvSpPr>
          <p:cNvPr id="10" name="text-1150-668-03">
            <a:extLst xmlns:a="http://schemas.openxmlformats.org/drawingml/2006/main">
              <a:ext uri="{FF2B5EF4-FFF2-40B4-BE49-F238E27FC236}">
                <a16:creationId xmlns:a16="http://schemas.microsoft.com/office/drawing/2014/main" id="{D176E2D5-BDD3-46B7-96F8-7E23B8230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125" b="0">
                <a:solidFill>
                  <a:srgbClr val="5F5F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F5F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5F5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169718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78-47-04 · ПРОТОПЕРСОНА">
            <a:extLst xmlns:a="http://schemas.openxmlformats.org/drawingml/2006/main">
              <a:ext uri="{FF2B5EF4-FFF2-40B4-BE49-F238E27FC236}">
                <a16:creationId xmlns:a16="http://schemas.microsoft.com/office/drawing/2014/main" id="{60F8E136-CF80-45F9-87D3-F858F0CF8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052FF"/>
                </a:solidFill>
                <a:latin typeface="Arial"/>
                <a:ea typeface="Arial"/>
                <a:cs typeface="Arial"/>
              </a:rPr>
              <a:t>04 · ПРОТОПЕРСОНА</a:t>
            </a:r>
          </a:p>
        </p:txBody>
      </p:sp>
      <p:sp>
        <p:nvSpPr>
          <p:cNvPr id="2" name="text-78-95-Восемь ответов дали один пре">
            <a:extLst xmlns:a="http://schemas.openxmlformats.org/drawingml/2006/main">
              <a:ext uri="{FF2B5EF4-FFF2-40B4-BE49-F238E27FC236}">
                <a16:creationId xmlns:a16="http://schemas.microsoft.com/office/drawing/2014/main" id="{858F2183-4266-48F4-B967-E5233BA97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04875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Восемь ответов дали один предварительный профиль целевой аудитории</a:t>
            </a:r>
          </a:p>
        </p:txBody>
      </p:sp>
      <p:sp>
        <p:nvSpPr>
          <p:cNvPr id="3" name="text-78-220-R02">
            <a:extLst xmlns:a="http://schemas.openxmlformats.org/drawingml/2006/main">
              <a:ext uri="{FF2B5EF4-FFF2-40B4-BE49-F238E27FC236}">
                <a16:creationId xmlns:a16="http://schemas.microsoft.com/office/drawing/2014/main" id="{DF8CA3BD-C044-4EA8-A5CD-C44EEAC29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314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6600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600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pPr>
            <a:r>
              <a:rPr sz="6600" b="1">
                <a:solidFill>
                  <a:srgbClr val="8052FF"/>
                </a:solidFill>
                <a:latin typeface="Arial"/>
                <a:ea typeface="Arial"/>
                <a:cs typeface="Arial"/>
              </a:rPr>
              <a:t>R02</a:t>
            </a:r>
          </a:p>
        </p:txBody>
      </p:sp>
      <p:sp>
        <p:nvSpPr>
          <p:cNvPr id="4" name="text-80-340-Самостоятельный владелец / о">
            <a:extLst xmlns:a="http://schemas.openxmlformats.org/drawingml/2006/main">
              <a:ext uri="{FF2B5EF4-FFF2-40B4-BE49-F238E27FC236}">
                <a16:creationId xmlns:a16="http://schemas.microsoft.com/office/drawing/2014/main" id="{C5C914E3-0529-40E7-AE4E-CD7DC4239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4857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75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8D8D8"/>
                </a:solidFill>
                <a:latin typeface="Arial"/>
                <a:ea typeface="Arial"/>
                <a:cs typeface="Arial"/>
              </a:rPr>
              <a:t>Самостоятельный владелец / основатель. Есть проектная задача вне экспертизы и запрос на документы с источниками.</a:t>
            </a:r>
          </a:p>
        </p:txBody>
      </p:sp>
      <p:sp>
        <p:nvSpPr>
          <p:cNvPr id="5" name="text-700-242-Остальные ответы">
            <a:extLst xmlns:a="http://schemas.openxmlformats.org/drawingml/2006/main">
              <a:ext uri="{FF2B5EF4-FFF2-40B4-BE49-F238E27FC236}">
                <a16:creationId xmlns:a16="http://schemas.microsoft.com/office/drawing/2014/main" id="{00E58FF2-97C1-4378-AB6D-63808FA24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05050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Остальные ответы</a:t>
            </a:r>
          </a:p>
        </p:txBody>
      </p:sp>
      <p:sp>
        <p:nvSpPr>
          <p:cNvPr id="6" name="text-700-312-R03, R05 и R08 можно рассмат">
            <a:extLst xmlns:a="http://schemas.openxmlformats.org/drawingml/2006/main">
              <a:ext uri="{FF2B5EF4-FFF2-40B4-BE49-F238E27FC236}">
                <a16:creationId xmlns:a16="http://schemas.microsoft.com/office/drawing/2014/main" id="{F3C8EE73-B402-47E4-81CD-72A007B3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71800"/>
            <a:ext cx="4286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8D8D8"/>
                </a:solidFill>
                <a:latin typeface="Arial"/>
                <a:ea typeface="Arial"/>
                <a:cs typeface="Arial"/>
              </a:rPr>
              <a:t>R03, R05 и R08 можно рассматривать как контрольные случаи после отдельной проверки критериев.</a:t>
            </a:r>
          </a:p>
        </p:txBody>
      </p:sp>
      <p:sp>
        <p:nvSpPr>
          <p:cNvPr id="7" name="text-80-568-Контакта для R02 нет. Готовн">
            <a:extLst xmlns:a="http://schemas.openxmlformats.org/drawingml/2006/main">
              <a:ext uri="{FF2B5EF4-FFF2-40B4-BE49-F238E27FC236}">
                <a16:creationId xmlns:a16="http://schemas.microsoft.com/office/drawing/2014/main" id="{6252F5A7-3F22-4D30-920C-BFE3C144E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10200"/>
            <a:ext cx="885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FFB8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FFB82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B829"/>
                </a:solidFill>
                <a:latin typeface="Arial"/>
                <a:ea typeface="Arial"/>
                <a:cs typeface="Arial"/>
              </a:rPr>
              <a:t>Контакта для R02 нет. Готовность и согласие на сессию не получены.</a:t>
            </a:r>
          </a:p>
        </p:txBody>
      </p:sp>
      <p:sp>
        <p:nvSpPr>
          <p:cNvPr id="8" name="text-1150-668-04">
            <a:extLst xmlns:a="http://schemas.openxmlformats.org/drawingml/2006/main">
              <a:ext uri="{FF2B5EF4-FFF2-40B4-BE49-F238E27FC236}">
                <a16:creationId xmlns:a16="http://schemas.microsoft.com/office/drawing/2014/main" id="{AB7C0511-DBB4-45FD-AC60-2CBCFEEF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125" b="0">
                <a:solidFill>
                  <a:srgbClr val="5F5F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F5F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5F5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689003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78-47-05 · ЗАДАЧИ ПОЛЬЗОВАТЕЛЯ">
            <a:extLst xmlns:a="http://schemas.openxmlformats.org/drawingml/2006/main">
              <a:ext uri="{FF2B5EF4-FFF2-40B4-BE49-F238E27FC236}">
                <a16:creationId xmlns:a16="http://schemas.microsoft.com/office/drawing/2014/main" id="{DA2A1731-1F98-4772-B8F2-38A3F48C3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052FF"/>
                </a:solidFill>
                <a:latin typeface="Arial"/>
                <a:ea typeface="Arial"/>
                <a:cs typeface="Arial"/>
              </a:rPr>
              <a:t>05 · ЗАДАЧИ ПОЛЬЗОВАТЕЛЯ</a:t>
            </a:r>
          </a:p>
        </p:txBody>
      </p:sp>
      <p:sp>
        <p:nvSpPr>
          <p:cNvPr id="2" name="text-78-95-Три спринта проверяют задачи">
            <a:extLst xmlns:a="http://schemas.openxmlformats.org/drawingml/2006/main">
              <a:ext uri="{FF2B5EF4-FFF2-40B4-BE49-F238E27FC236}">
                <a16:creationId xmlns:a16="http://schemas.microsoft.com/office/drawing/2014/main" id="{4B9CCAE8-1E04-4F79-8C3E-A9C044C25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04875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Три спринта проверяют задачи одного протосегмента</a:t>
            </a:r>
          </a:p>
        </p:txBody>
      </p:sp>
      <p:sp>
        <p:nvSpPr>
          <p:cNvPr id="3" name="text-78-224-01 · Решение вне экспертизы">
            <a:extLst xmlns:a="http://schemas.openxmlformats.org/drawingml/2006/main">
              <a:ext uri="{FF2B5EF4-FFF2-40B4-BE49-F238E27FC236}">
                <a16:creationId xmlns:a16="http://schemas.microsoft.com/office/drawing/2014/main" id="{79573E3C-8602-4E50-98A0-8FE3B24A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3360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 · Решение вне экспертизы</a:t>
            </a:r>
          </a:p>
        </p:txBody>
      </p:sp>
      <p:sp>
        <p:nvSpPr>
          <p:cNvPr id="4" name="text-78-312-Понять, что подтверждают ист">
            <a:extLst xmlns:a="http://schemas.openxmlformats.org/drawingml/2006/main">
              <a:ext uri="{FF2B5EF4-FFF2-40B4-BE49-F238E27FC236}">
                <a16:creationId xmlns:a16="http://schemas.microsoft.com/office/drawing/2014/main" id="{E4BB0ABD-CD0A-4C2F-9DD3-4C1395032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71800"/>
            <a:ext cx="31623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8D8D8"/>
                </a:solidFill>
                <a:latin typeface="Arial"/>
                <a:ea typeface="Arial"/>
                <a:cs typeface="Arial"/>
              </a:rPr>
              <a:t>Понять, что подтверждают источники и какой шаг можно сделать дальше.</a:t>
            </a:r>
          </a:p>
        </p:txBody>
      </p:sp>
      <p:sp>
        <p:nvSpPr>
          <p:cNvPr id="5" name="text-470-224-02 · Рынок и позиционировани">
            <a:extLst xmlns:a="http://schemas.openxmlformats.org/drawingml/2006/main">
              <a:ext uri="{FF2B5EF4-FFF2-40B4-BE49-F238E27FC236}">
                <a16:creationId xmlns:a16="http://schemas.microsoft.com/office/drawing/2014/main" id="{9BA62A83-F3B3-46A0-A0E6-C431D6BF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33600"/>
            <a:ext cx="331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 · Рынок и позиционирование</a:t>
            </a:r>
          </a:p>
        </p:txBody>
      </p:sp>
      <p:sp>
        <p:nvSpPr>
          <p:cNvPr id="6" name="text-470-312-Сопоставить внешние данные с">
            <a:extLst xmlns:a="http://schemas.openxmlformats.org/drawingml/2006/main">
              <a:ext uri="{FF2B5EF4-FFF2-40B4-BE49-F238E27FC236}">
                <a16:creationId xmlns:a16="http://schemas.microsoft.com/office/drawing/2014/main" id="{91158099-A079-4888-B4B3-7566FAB01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71800"/>
            <a:ext cx="3143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8D8D8"/>
                </a:solidFill>
                <a:latin typeface="Arial"/>
                <a:ea typeface="Arial"/>
                <a:cs typeface="Arial"/>
              </a:rPr>
              <a:t>Сопоставить внешние данные с допущениями и выбрать полевой тест.</a:t>
            </a:r>
          </a:p>
        </p:txBody>
      </p:sp>
      <p:sp>
        <p:nvSpPr>
          <p:cNvPr id="7" name="text-880-224-03 · Технический выбор">
            <a:extLst xmlns:a="http://schemas.openxmlformats.org/drawingml/2006/main">
              <a:ext uri="{FF2B5EF4-FFF2-40B4-BE49-F238E27FC236}">
                <a16:creationId xmlns:a16="http://schemas.microsoft.com/office/drawing/2014/main" id="{00B8BA18-3BC0-4929-B23A-08220CF3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3360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 · Технический выбор</a:t>
            </a:r>
          </a:p>
        </p:txBody>
      </p:sp>
      <p:sp>
        <p:nvSpPr>
          <p:cNvPr id="8" name="text-880-312-Сравнить подходы или поставщ">
            <a:extLst xmlns:a="http://schemas.openxmlformats.org/drawingml/2006/main">
              <a:ext uri="{FF2B5EF4-FFF2-40B4-BE49-F238E27FC236}">
                <a16:creationId xmlns:a16="http://schemas.microsoft.com/office/drawing/2014/main" id="{804AD82D-31E3-472E-87A1-20AD02EB7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71800"/>
            <a:ext cx="31242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8D8D8"/>
                </a:solidFill>
                <a:latin typeface="Arial"/>
                <a:ea typeface="Arial"/>
                <a:cs typeface="Arial"/>
              </a:rPr>
              <a:t>Сравнить подходы или поставщиков до расходов и реализации.</a:t>
            </a:r>
          </a:p>
        </p:txBody>
      </p:sp>
      <p:sp>
        <p:nvSpPr>
          <p:cNvPr id="9" name="text-78-564-Это гипотезы последовательны">
            <a:extLst xmlns:a="http://schemas.openxmlformats.org/drawingml/2006/main">
              <a:ext uri="{FF2B5EF4-FFF2-40B4-BE49-F238E27FC236}">
                <a16:creationId xmlns:a16="http://schemas.microsoft.com/office/drawing/2014/main" id="{0C9A81EC-5587-4D2D-9F5C-08BF63152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721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FFB8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FFB82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B829"/>
                </a:solidFill>
                <a:latin typeface="Arial"/>
                <a:ea typeface="Arial"/>
                <a:cs typeface="Arial"/>
              </a:rPr>
              <a:t>Это гипотезы последовательных исследовательских спринтов, а не три подтверждённые персоны.</a:t>
            </a:r>
          </a:p>
        </p:txBody>
      </p:sp>
      <p:sp>
        <p:nvSpPr>
          <p:cNvPr id="10" name="text-1150-668-05">
            <a:extLst xmlns:a="http://schemas.openxmlformats.org/drawingml/2006/main">
              <a:ext uri="{FF2B5EF4-FFF2-40B4-BE49-F238E27FC236}">
                <a16:creationId xmlns:a16="http://schemas.microsoft.com/office/drawing/2014/main" id="{4EB15042-1934-4BDB-8258-5D61F885A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125" b="0">
                <a:solidFill>
                  <a:srgbClr val="5F5F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F5F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5F5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544667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78-47-06 · ПРЕДЛАГАЕМОЕ РЕШЕНИЕ">
            <a:extLst xmlns:a="http://schemas.openxmlformats.org/drawingml/2006/main">
              <a:ext uri="{FF2B5EF4-FFF2-40B4-BE49-F238E27FC236}">
                <a16:creationId xmlns:a16="http://schemas.microsoft.com/office/drawing/2014/main" id="{47D9F6B7-BCF0-4775-9ABA-8E6D417C8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052FF"/>
                </a:solidFill>
                <a:latin typeface="Arial"/>
                <a:ea typeface="Arial"/>
                <a:cs typeface="Arial"/>
              </a:rPr>
              <a:t>06 · ПРЕДЛАГАЕМОЕ РЕШЕНИЕ</a:t>
            </a:r>
          </a:p>
        </p:txBody>
      </p:sp>
      <p:sp>
        <p:nvSpPr>
          <p:cNvPr id="2" name="text-78-95-Результат должен показывать ">
            <a:extLst xmlns:a="http://schemas.openxmlformats.org/drawingml/2006/main">
              <a:ext uri="{FF2B5EF4-FFF2-40B4-BE49-F238E27FC236}">
                <a16:creationId xmlns:a16="http://schemas.microsoft.com/office/drawing/2014/main" id="{2B2C8456-A79B-429E-A239-404979A0C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04875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Результат должен показывать вывод, источники и то, что осталось неизвестным</a:t>
            </a:r>
          </a:p>
        </p:txBody>
      </p:sp>
      <p:sp>
        <p:nvSpPr>
          <p:cNvPr id="3" name="text-78-238-Вход">
            <a:extLst xmlns:a="http://schemas.openxmlformats.org/drawingml/2006/main">
              <a:ext uri="{FF2B5EF4-FFF2-40B4-BE49-F238E27FC236}">
                <a16:creationId xmlns:a16="http://schemas.microsoft.com/office/drawing/2014/main" id="{7AECF9FE-A06E-4173-908E-DC252923E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052FF"/>
                </a:solidFill>
                <a:latin typeface="Arial"/>
                <a:ea typeface="Arial"/>
                <a:cs typeface="Arial"/>
              </a:rPr>
              <a:t>Вход</a:t>
            </a:r>
          </a:p>
        </p:txBody>
      </p:sp>
      <p:sp>
        <p:nvSpPr>
          <p:cNvPr id="4" name="text-78-292-Одна реальная задача и решен">
            <a:extLst xmlns:a="http://schemas.openxmlformats.org/drawingml/2006/main">
              <a:ext uri="{FF2B5EF4-FFF2-40B4-BE49-F238E27FC236}">
                <a16:creationId xmlns:a16="http://schemas.microsoft.com/office/drawing/2014/main" id="{A832DB2D-CC88-4988-B69B-AA7FF0B1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2524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8D8D8"/>
                </a:solidFill>
                <a:latin typeface="Arial"/>
                <a:ea typeface="Arial"/>
                <a:cs typeface="Arial"/>
              </a:rPr>
              <a:t>Одна реальная задача и решение, которое предстоит принять</a:t>
            </a:r>
          </a:p>
        </p:txBody>
      </p:sp>
      <p:sp>
        <p:nvSpPr>
          <p:cNvPr id="5" name="text-395-238-Анализ">
            <a:extLst xmlns:a="http://schemas.openxmlformats.org/drawingml/2006/main">
              <a:ext uri="{FF2B5EF4-FFF2-40B4-BE49-F238E27FC236}">
                <a16:creationId xmlns:a16="http://schemas.microsoft.com/office/drawing/2014/main" id="{A34F49B6-EADE-4BC9-939C-5D8D080D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2669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052FF"/>
                </a:solidFill>
                <a:latin typeface="Arial"/>
                <a:ea typeface="Arial"/>
                <a:cs typeface="Arial"/>
              </a:rPr>
              <a:t>Анализ</a:t>
            </a:r>
          </a:p>
        </p:txBody>
      </p:sp>
      <p:sp>
        <p:nvSpPr>
          <p:cNvPr id="6" name="text-395-292-Внешние источники, проверка ">
            <a:extLst xmlns:a="http://schemas.openxmlformats.org/drawingml/2006/main">
              <a:ext uri="{FF2B5EF4-FFF2-40B4-BE49-F238E27FC236}">
                <a16:creationId xmlns:a16="http://schemas.microsoft.com/office/drawing/2014/main" id="{16DA150F-2C22-4B9A-A2DC-839662D59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781300"/>
            <a:ext cx="257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8D8D8"/>
                </a:solidFill>
                <a:latin typeface="Arial"/>
                <a:ea typeface="Arial"/>
                <a:cs typeface="Arial"/>
              </a:rPr>
              <a:t>Внешние источники, проверка расхождений и ограничения</a:t>
            </a:r>
          </a:p>
        </p:txBody>
      </p:sp>
      <p:sp>
        <p:nvSpPr>
          <p:cNvPr id="7" name="text-735-238-Результат">
            <a:extLst xmlns:a="http://schemas.openxmlformats.org/drawingml/2006/main">
              <a:ext uri="{FF2B5EF4-FFF2-40B4-BE49-F238E27FC236}">
                <a16:creationId xmlns:a16="http://schemas.microsoft.com/office/drawing/2014/main" id="{3392C446-78CC-4E4A-8B1B-B8A7B110F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2669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052FF"/>
                </a:solidFill>
                <a:latin typeface="Arial"/>
                <a:ea typeface="Arial"/>
                <a:cs typeface="Arial"/>
              </a:rPr>
              <a:t>Результат</a:t>
            </a:r>
          </a:p>
        </p:txBody>
      </p:sp>
      <p:sp>
        <p:nvSpPr>
          <p:cNvPr id="8" name="text-735-292-Краткий decision brief с вар">
            <a:extLst xmlns:a="http://schemas.openxmlformats.org/drawingml/2006/main">
              <a:ext uri="{FF2B5EF4-FFF2-40B4-BE49-F238E27FC236}">
                <a16:creationId xmlns:a16="http://schemas.microsoft.com/office/drawing/2014/main" id="{AEB427C5-B5FA-484E-B179-E31D0B59C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781300"/>
            <a:ext cx="247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8D8D8"/>
                </a:solidFill>
                <a:latin typeface="Arial"/>
                <a:ea typeface="Arial"/>
                <a:cs typeface="Arial"/>
              </a:rPr>
              <a:t>Краткий decision brief с вариантами следующего шага</a:t>
            </a:r>
          </a:p>
        </p:txBody>
      </p:sp>
      <p:sp>
        <p:nvSpPr>
          <p:cNvPr id="9" name="text-1030-238-Передача">
            <a:extLst xmlns:a="http://schemas.openxmlformats.org/drawingml/2006/main">
              <a:ext uri="{FF2B5EF4-FFF2-40B4-BE49-F238E27FC236}">
                <a16:creationId xmlns:a16="http://schemas.microsoft.com/office/drawing/2014/main" id="{8BB7245F-7FCD-4185-B023-C3308BAD6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2669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052FF"/>
                </a:solidFill>
                <a:latin typeface="Arial"/>
                <a:ea typeface="Arial"/>
                <a:cs typeface="Arial"/>
              </a:rPr>
              <a:t>Передача</a:t>
            </a:r>
          </a:p>
        </p:txBody>
      </p:sp>
      <p:sp>
        <p:nvSpPr>
          <p:cNvPr id="10" name="text-1030-292-ZIP: result.md, sources.csv ">
            <a:extLst xmlns:a="http://schemas.openxmlformats.org/drawingml/2006/main">
              <a:ext uri="{FF2B5EF4-FFF2-40B4-BE49-F238E27FC236}">
                <a16:creationId xmlns:a16="http://schemas.microsoft.com/office/drawing/2014/main" id="{7263E1B9-A6D1-4BB4-B462-79F0385AB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81300"/>
            <a:ext cx="18478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8D8D8"/>
                </a:solidFill>
                <a:latin typeface="Arial"/>
                <a:ea typeface="Arial"/>
                <a:cs typeface="Arial"/>
              </a:rPr>
              <a:t>ZIP: result.md, sources.csv и metadata.json</a:t>
            </a:r>
          </a:p>
        </p:txBody>
      </p:sp>
      <p:sp>
        <p:nvSpPr>
          <p:cNvPr id="11" name="text-78-564-Это целевой контракт первого">
            <a:extLst xmlns:a="http://schemas.openxmlformats.org/drawingml/2006/main">
              <a:ext uri="{FF2B5EF4-FFF2-40B4-BE49-F238E27FC236}">
                <a16:creationId xmlns:a16="http://schemas.microsoft.com/office/drawing/2014/main" id="{C0B2748E-ED5E-4FBC-9A87-174E9B911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721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FFB8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FFB82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B829"/>
                </a:solidFill>
                <a:latin typeface="Arial"/>
                <a:ea typeface="Arial"/>
                <a:cs typeface="Arial"/>
              </a:rPr>
              <a:t>Это целевой контракт первого результата, а не подтверждение работающей интеграции.</a:t>
            </a:r>
          </a:p>
        </p:txBody>
      </p:sp>
      <p:sp>
        <p:nvSpPr>
          <p:cNvPr id="12" name="text-1150-668-06">
            <a:extLst xmlns:a="http://schemas.openxmlformats.org/drawingml/2006/main">
              <a:ext uri="{FF2B5EF4-FFF2-40B4-BE49-F238E27FC236}">
                <a16:creationId xmlns:a16="http://schemas.microsoft.com/office/drawing/2014/main" id="{35FAAE29-A91C-46CF-A25B-85CEFB1BD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125" b="0">
                <a:solidFill>
                  <a:srgbClr val="5F5F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F5F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5F5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243837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78-47-07 · ПРЕДЫДУЩИЕ РЕЗУЛЬТАТЫ">
            <a:extLst xmlns:a="http://schemas.openxmlformats.org/drawingml/2006/main">
              <a:ext uri="{FF2B5EF4-FFF2-40B4-BE49-F238E27FC236}">
                <a16:creationId xmlns:a16="http://schemas.microsoft.com/office/drawing/2014/main" id="{D7638C05-6F0A-48F3-98F8-21513DEFB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052FF"/>
                </a:solidFill>
                <a:latin typeface="Arial"/>
                <a:ea typeface="Arial"/>
                <a:cs typeface="Arial"/>
              </a:rPr>
              <a:t>07 · ПРЕДЫДУЩИЕ РЕЗУЛЬТАТЫ</a:t>
            </a:r>
          </a:p>
        </p:txBody>
      </p:sp>
      <p:sp>
        <p:nvSpPr>
          <p:cNvPr id="2" name="text-78-95-До пользовательского прогона">
            <a:extLst xmlns:a="http://schemas.openxmlformats.org/drawingml/2006/main">
              <a:ext uri="{FF2B5EF4-FFF2-40B4-BE49-F238E27FC236}">
                <a16:creationId xmlns:a16="http://schemas.microsoft.com/office/drawing/2014/main" id="{E8F2A4E1-CC8B-4D68-BFCF-FE59E376B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04875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До пользовательского прогона у нас есть только анкета и план проверки</a:t>
            </a:r>
          </a:p>
        </p:txBody>
      </p:sp>
      <p:sp>
        <p:nvSpPr>
          <p:cNvPr id="3" name="text-80-238-Есть">
            <a:extLst xmlns:a="http://schemas.openxmlformats.org/drawingml/2006/main">
              <a:ext uri="{FF2B5EF4-FFF2-40B4-BE49-F238E27FC236}">
                <a16:creationId xmlns:a16="http://schemas.microsoft.com/office/drawing/2014/main" id="{BE217670-92DB-4D59-9C19-91B53B156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8052FF"/>
                </a:solidFill>
                <a:latin typeface="Arial"/>
                <a:ea typeface="Arial"/>
                <a:cs typeface="Arial"/>
              </a:rPr>
              <a:t>Есть</a:t>
            </a:r>
          </a:p>
        </p:txBody>
      </p:sp>
      <p:sp>
        <p:nvSpPr>
          <p:cNvPr id="4" name="text-80-304-8 ответов формы&#10;1 предварите">
            <a:extLst xmlns:a="http://schemas.openxmlformats.org/drawingml/2006/main">
              <a:ext uri="{FF2B5EF4-FFF2-40B4-BE49-F238E27FC236}">
                <a16:creationId xmlns:a16="http://schemas.microsoft.com/office/drawing/2014/main" id="{29E49752-3F77-46F0-948F-6D968907A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95600"/>
            <a:ext cx="41910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75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8D8D8"/>
                </a:solidFill>
                <a:latin typeface="Arial"/>
                <a:ea typeface="Arial"/>
                <a:cs typeface="Arial"/>
              </a:rPr>
              <a:t>8 ответов формы</a:t>
            </a:r>
          </a:p>
          <a:p xmlns:a="http://schemas.openxmlformats.org/drawingml/2006/main">
            <a:pPr algn="l">
              <a:defRPr sz="1875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8D8D8"/>
                </a:solidFill>
                <a:latin typeface="Arial"/>
                <a:ea typeface="Arial"/>
                <a:cs typeface="Arial"/>
              </a:rPr>
              <a:t>1 предварительный fit (R02)</a:t>
            </a:r>
          </a:p>
          <a:p xmlns:a="http://schemas.openxmlformats.org/drawingml/2006/main">
            <a:pPr algn="l">
              <a:defRPr sz="1875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8D8D8"/>
                </a:solidFill>
                <a:latin typeface="Arial"/>
                <a:ea typeface="Arial"/>
                <a:cs typeface="Arial"/>
              </a:rPr>
              <a:t>описание baseline и ZIP-контракта</a:t>
            </a:r>
          </a:p>
        </p:txBody>
      </p:sp>
      <p:sp>
        <p:nvSpPr>
          <p:cNvPr id="5" name="text-700-238-Ещё нет">
            <a:extLst xmlns:a="http://schemas.openxmlformats.org/drawingml/2006/main">
              <a:ext uri="{FF2B5EF4-FFF2-40B4-BE49-F238E27FC236}">
                <a16:creationId xmlns:a16="http://schemas.microsoft.com/office/drawing/2014/main" id="{BC6DBF82-D6F2-46AF-9B75-46C35D9A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669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FFB8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B82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B829"/>
                </a:solidFill>
                <a:latin typeface="Arial"/>
                <a:ea typeface="Arial"/>
                <a:cs typeface="Arial"/>
              </a:rPr>
              <a:t>Ещё нет</a:t>
            </a:r>
          </a:p>
        </p:txBody>
      </p:sp>
      <p:sp>
        <p:nvSpPr>
          <p:cNvPr id="6" name="text-700-304-согласованного участника&#10;bas">
            <a:extLst xmlns:a="http://schemas.openxmlformats.org/drawingml/2006/main">
              <a:ext uri="{FF2B5EF4-FFF2-40B4-BE49-F238E27FC236}">
                <a16:creationId xmlns:a16="http://schemas.microsoft.com/office/drawing/2014/main" id="{F1584123-0042-4E21-9611-8BA20CD08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95600"/>
            <a:ext cx="44767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75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8D8D8"/>
                </a:solidFill>
                <a:latin typeface="Arial"/>
                <a:ea typeface="Arial"/>
                <a:cs typeface="Arial"/>
              </a:rPr>
              <a:t>согласованного участника</a:t>
            </a:r>
          </a:p>
          <a:p xmlns:a="http://schemas.openxmlformats.org/drawingml/2006/main">
            <a:pPr algn="l">
              <a:defRPr sz="1875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8D8D8"/>
                </a:solidFill>
                <a:latin typeface="Arial"/>
                <a:ea typeface="Arial"/>
                <a:cs typeface="Arial"/>
              </a:rPr>
              <a:t>baseline конкретной задачи</a:t>
            </a:r>
          </a:p>
          <a:p xmlns:a="http://schemas.openxmlformats.org/drawingml/2006/main">
            <a:pPr algn="l">
              <a:defRPr sz="1875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8D8D8"/>
                </a:solidFill>
                <a:latin typeface="Arial"/>
                <a:ea typeface="Arial"/>
                <a:cs typeface="Arial"/>
              </a:rPr>
              <a:t>пилотного результата или замеров</a:t>
            </a:r>
          </a:p>
        </p:txBody>
      </p:sp>
      <p:sp>
        <p:nvSpPr>
          <p:cNvPr id="7" name="text-80-566-Скорость, качество и экономи">
            <a:extLst xmlns:a="http://schemas.openxmlformats.org/drawingml/2006/main">
              <a:ext uri="{FF2B5EF4-FFF2-40B4-BE49-F238E27FC236}">
                <a16:creationId xmlns:a16="http://schemas.microsoft.com/office/drawing/2014/main" id="{59587FFB-90FE-473B-90B3-502C50995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91150"/>
            <a:ext cx="838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Скорость, качество и экономия времени не заявляются.</a:t>
            </a:r>
          </a:p>
        </p:txBody>
      </p:sp>
      <p:sp>
        <p:nvSpPr>
          <p:cNvPr id="8" name="text-1150-668-07">
            <a:extLst xmlns:a="http://schemas.openxmlformats.org/drawingml/2006/main">
              <a:ext uri="{FF2B5EF4-FFF2-40B4-BE49-F238E27FC236}">
                <a16:creationId xmlns:a16="http://schemas.microsoft.com/office/drawing/2014/main" id="{F5DCE4FD-0F1F-447B-B40F-E94A24D27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125" b="0">
                <a:solidFill>
                  <a:srgbClr val="5F5F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F5F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5F5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548466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78-47-08 · ТЕКУЩАЯ ПРОВЕРКА">
            <a:extLst xmlns:a="http://schemas.openxmlformats.org/drawingml/2006/main">
              <a:ext uri="{FF2B5EF4-FFF2-40B4-BE49-F238E27FC236}">
                <a16:creationId xmlns:a16="http://schemas.microsoft.com/office/drawing/2014/main" id="{A3E64B35-29BE-45F8-AA5A-0FA9C0E8B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052FF"/>
                </a:solidFill>
                <a:latin typeface="Arial"/>
                <a:ea typeface="Arial"/>
                <a:cs typeface="Arial"/>
              </a:rPr>
              <a:t>08 · ТЕКУЩАЯ ПРОВЕРКА</a:t>
            </a:r>
          </a:p>
        </p:txBody>
      </p:sp>
      <p:sp>
        <p:nvSpPr>
          <p:cNvPr id="2" name="text-78-95-В этом спринте проверяем пол">
            <a:extLst xmlns:a="http://schemas.openxmlformats.org/drawingml/2006/main">
              <a:ext uri="{FF2B5EF4-FFF2-40B4-BE49-F238E27FC236}">
                <a16:creationId xmlns:a16="http://schemas.microsoft.com/office/drawing/2014/main" id="{DB76FD92-173C-41FB-B979-97DDDD85C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04875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 этом спринте проверяем пользу brief и полный путь до ZIP</a:t>
            </a:r>
          </a:p>
        </p:txBody>
      </p:sp>
      <p:sp>
        <p:nvSpPr>
          <p:cNvPr id="3" name="text-78-216-Продуктовая гипотеза">
            <a:extLst xmlns:a="http://schemas.openxmlformats.org/drawingml/2006/main">
              <a:ext uri="{FF2B5EF4-FFF2-40B4-BE49-F238E27FC236}">
                <a16:creationId xmlns:a16="http://schemas.microsoft.com/office/drawing/2014/main" id="{F1E85D21-8C84-455A-8CCB-63D00C82D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3286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7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052FF"/>
                </a:solidFill>
                <a:latin typeface="Arial"/>
                <a:ea typeface="Arial"/>
                <a:cs typeface="Arial"/>
              </a:rPr>
              <a:t>Продуктовая гипотеза</a:t>
            </a:r>
          </a:p>
        </p:txBody>
      </p:sp>
      <p:sp>
        <p:nvSpPr>
          <p:cNvPr id="4" name="text-78-278-Помогают ли источники, расхо">
            <a:extLst xmlns:a="http://schemas.openxmlformats.org/drawingml/2006/main">
              <a:ext uri="{FF2B5EF4-FFF2-40B4-BE49-F238E27FC236}">
                <a16:creationId xmlns:a16="http://schemas.microsoft.com/office/drawing/2014/main" id="{0F5A9D51-AAD7-4F15-A891-DBC2E3F0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323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8D8D8"/>
                </a:solidFill>
                <a:latin typeface="Arial"/>
                <a:ea typeface="Arial"/>
                <a:cs typeface="Arial"/>
              </a:rPr>
              <a:t>Помогают ли источники, расхождения и открытые вопросы выбрать следующий шаг?</a:t>
            </a:r>
          </a:p>
        </p:txBody>
      </p:sp>
      <p:sp>
        <p:nvSpPr>
          <p:cNvPr id="5" name="text-470-216-Исследование">
            <a:extLst xmlns:a="http://schemas.openxmlformats.org/drawingml/2006/main">
              <a:ext uri="{FF2B5EF4-FFF2-40B4-BE49-F238E27FC236}">
                <a16:creationId xmlns:a16="http://schemas.microsoft.com/office/drawing/2014/main" id="{290BAC15-EAB6-4FC1-BA09-ECBDADA1E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7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052FF"/>
                </a:solidFill>
                <a:latin typeface="Arial"/>
                <a:ea typeface="Arial"/>
                <a:cs typeface="Arial"/>
              </a:rPr>
              <a:t>Исследование</a:t>
            </a:r>
          </a:p>
        </p:txBody>
      </p:sp>
      <p:sp>
        <p:nvSpPr>
          <p:cNvPr id="6" name="text-470-278-Найти подходящего владельца,">
            <a:extLst xmlns:a="http://schemas.openxmlformats.org/drawingml/2006/main">
              <a:ext uri="{FF2B5EF4-FFF2-40B4-BE49-F238E27FC236}">
                <a16:creationId xmlns:a16="http://schemas.microsoft.com/office/drawing/2014/main" id="{A84D4BA7-10EF-40FD-B978-A5673EF6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14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8D8D8"/>
                </a:solidFill>
                <a:latin typeface="Arial"/>
                <a:ea typeface="Arial"/>
                <a:cs typeface="Arial"/>
              </a:rPr>
              <a:t>Найти подходящего владельца, согласовать сессию и измерить baseline. Пока NOT RUN.</a:t>
            </a:r>
          </a:p>
        </p:txBody>
      </p:sp>
      <p:sp>
        <p:nvSpPr>
          <p:cNvPr id="7" name="text-865-216-Техническая гипотеза">
            <a:extLst xmlns:a="http://schemas.openxmlformats.org/drawingml/2006/main">
              <a:ext uri="{FF2B5EF4-FFF2-40B4-BE49-F238E27FC236}">
                <a16:creationId xmlns:a16="http://schemas.microsoft.com/office/drawing/2014/main" id="{2CDA22DC-BCA0-41C1-8DCD-523B26D7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5740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7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052FF"/>
                </a:solidFill>
                <a:latin typeface="Arial"/>
                <a:ea typeface="Arial"/>
                <a:cs typeface="Arial"/>
              </a:rPr>
              <a:t>Техническая гипотеза</a:t>
            </a:r>
          </a:p>
        </p:txBody>
      </p:sp>
      <p:sp>
        <p:nvSpPr>
          <p:cNvPr id="8" name="text-865-278-Путь от задачи до ZIP должен">
            <a:extLst xmlns:a="http://schemas.openxmlformats.org/drawingml/2006/main">
              <a:ext uri="{FF2B5EF4-FFF2-40B4-BE49-F238E27FC236}">
                <a16:creationId xmlns:a16="http://schemas.microsoft.com/office/drawing/2014/main" id="{D1EE8CDE-076B-4FE8-86F0-471C4DE92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47950"/>
            <a:ext cx="32575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8D8D8"/>
                </a:solidFill>
                <a:latin typeface="Arial"/>
                <a:ea typeface="Arial"/>
                <a:cs typeface="Arial"/>
              </a:rPr>
              <a:t>Путь от задачи до ZIP должен пройти проверку на работающей системе. Интеграция и deploy не подтверждены.</a:t>
            </a:r>
          </a:p>
        </p:txBody>
      </p:sp>
      <p:sp>
        <p:nvSpPr>
          <p:cNvPr id="9" name="text-78-570-Frontend готовность отдельно">
            <a:extLst xmlns:a="http://schemas.openxmlformats.org/drawingml/2006/main">
              <a:ext uri="{FF2B5EF4-FFF2-40B4-BE49-F238E27FC236}">
                <a16:creationId xmlns:a16="http://schemas.microsoft.com/office/drawing/2014/main" id="{AD3E23D6-7464-4C11-A675-6302D6D6B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292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FFB8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FFB82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B829"/>
                </a:solidFill>
                <a:latin typeface="Arial"/>
                <a:ea typeface="Arial"/>
                <a:cs typeface="Arial"/>
              </a:rPr>
              <a:t>Frontend готовность отдельно от CTF, постоянного хранения и деплоя.</a:t>
            </a:r>
          </a:p>
        </p:txBody>
      </p:sp>
      <p:sp>
        <p:nvSpPr>
          <p:cNvPr id="10" name="text-1150-668-08">
            <a:extLst xmlns:a="http://schemas.openxmlformats.org/drawingml/2006/main">
              <a:ext uri="{FF2B5EF4-FFF2-40B4-BE49-F238E27FC236}">
                <a16:creationId xmlns:a16="http://schemas.microsoft.com/office/drawing/2014/main" id="{9A4D3264-9D1A-4062-8E2E-27508E8F9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125" b="0">
                <a:solidFill>
                  <a:srgbClr val="5F5F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F5F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5F5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7634825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78-47-09 · ДЕМО ПЕРВОЙ ПРОТОПЕРСОН">
            <a:extLst xmlns:a="http://schemas.openxmlformats.org/drawingml/2006/main">
              <a:ext uri="{FF2B5EF4-FFF2-40B4-BE49-F238E27FC236}">
                <a16:creationId xmlns:a16="http://schemas.microsoft.com/office/drawing/2014/main" id="{C0B40E44-A67E-4C84-A748-3BD4CECA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052FF"/>
                </a:solidFill>
                <a:latin typeface="Arial"/>
                <a:ea typeface="Arial"/>
                <a:cs typeface="Arial"/>
              </a:rPr>
              <a:t>09 · ДЕМО ПЕРВОЙ ПРОТОПЕРСОНЫ</a:t>
            </a:r>
          </a:p>
        </p:txBody>
      </p:sp>
      <p:sp>
        <p:nvSpPr>
          <p:cNvPr id="2" name="text-78-95-Демо покажем после проверки ">
            <a:extLst xmlns:a="http://schemas.openxmlformats.org/drawingml/2006/main">
              <a:ext uri="{FF2B5EF4-FFF2-40B4-BE49-F238E27FC236}">
                <a16:creationId xmlns:a16="http://schemas.microsoft.com/office/drawing/2014/main" id="{4CC83F2F-1311-4419-80C0-B119D342D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04875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Демо покажем после проверки сборки и всего пользовательского пути</a:t>
            </a:r>
          </a:p>
        </p:txBody>
      </p:sp>
      <p:sp>
        <p:nvSpPr>
          <p:cNvPr id="3" name="text-78-196-Сценарий будущего демо">
            <a:extLst xmlns:a="http://schemas.openxmlformats.org/drawingml/2006/main">
              <a:ext uri="{FF2B5EF4-FFF2-40B4-BE49-F238E27FC236}">
                <a16:creationId xmlns:a16="http://schemas.microsoft.com/office/drawing/2014/main" id="{80D73DC5-906D-4A8A-89B8-CE5C4F224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669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7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052FF"/>
                </a:solidFill>
                <a:latin typeface="Arial"/>
                <a:ea typeface="Arial"/>
                <a:cs typeface="Arial"/>
              </a:rPr>
              <a:t>Сценарий будущего демо</a:t>
            </a:r>
          </a:p>
        </p:txBody>
      </p:sp>
      <p:sp>
        <p:nvSpPr>
          <p:cNvPr id="4" name="text-78-286-Реальная задача">
            <a:extLst xmlns:a="http://schemas.openxmlformats.org/drawingml/2006/main">
              <a:ext uri="{FF2B5EF4-FFF2-40B4-BE49-F238E27FC236}">
                <a16:creationId xmlns:a16="http://schemas.microsoft.com/office/drawing/2014/main" id="{96DADAB3-4803-4C46-90B9-C59F8CEAE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Реальная задача</a:t>
            </a:r>
          </a:p>
        </p:txBody>
      </p:sp>
      <p:sp>
        <p:nvSpPr>
          <p:cNvPr id="5" name="text-382-286-Подбор источников">
            <a:extLst xmlns:a="http://schemas.openxmlformats.org/drawingml/2006/main">
              <a:ext uri="{FF2B5EF4-FFF2-40B4-BE49-F238E27FC236}">
                <a16:creationId xmlns:a16="http://schemas.microsoft.com/office/drawing/2014/main" id="{A0F9248A-47FD-4271-B0E5-B67FFFF0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7241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Подбор источников</a:t>
            </a:r>
          </a:p>
        </p:txBody>
      </p:sp>
      <p:sp>
        <p:nvSpPr>
          <p:cNvPr id="6" name="text-730-286-Проверяемый brief">
            <a:extLst xmlns:a="http://schemas.openxmlformats.org/drawingml/2006/main">
              <a:ext uri="{FF2B5EF4-FFF2-40B4-BE49-F238E27FC236}">
                <a16:creationId xmlns:a16="http://schemas.microsoft.com/office/drawing/2014/main" id="{93184BDE-A25D-45D2-B9ED-40F380F54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241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Проверяемый brief</a:t>
            </a:r>
          </a:p>
        </p:txBody>
      </p:sp>
      <p:sp>
        <p:nvSpPr>
          <p:cNvPr id="7" name="text-78-398-Сохранение и ZIP">
            <a:extLst xmlns:a="http://schemas.openxmlformats.org/drawingml/2006/main">
              <a:ext uri="{FF2B5EF4-FFF2-40B4-BE49-F238E27FC236}">
                <a16:creationId xmlns:a16="http://schemas.microsoft.com/office/drawing/2014/main" id="{8A0E1EAD-B436-4170-8B38-07A1CA6A1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909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Сохранение и ZIP</a:t>
            </a:r>
          </a:p>
        </p:txBody>
      </p:sp>
      <p:sp>
        <p:nvSpPr>
          <p:cNvPr id="8" name="text-438-398-Открытие проекта">
            <a:extLst xmlns:a="http://schemas.openxmlformats.org/drawingml/2006/main">
              <a:ext uri="{FF2B5EF4-FFF2-40B4-BE49-F238E27FC236}">
                <a16:creationId xmlns:a16="http://schemas.microsoft.com/office/drawing/2014/main" id="{A9010419-1CAE-40FB-B4D5-72378795F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7909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Открытие проекта</a:t>
            </a:r>
          </a:p>
        </p:txBody>
      </p:sp>
      <p:sp>
        <p:nvSpPr>
          <p:cNvPr id="9" name="text-78-566-Экранов и пользовательского ">
            <a:extLst xmlns:a="http://schemas.openxmlformats.org/drawingml/2006/main">
              <a:ext uri="{FF2B5EF4-FFF2-40B4-BE49-F238E27FC236}">
                <a16:creationId xmlns:a16="http://schemas.microsoft.com/office/drawing/2014/main" id="{351E7E91-3BDC-4939-938F-037D4D92B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1019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FFB8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FFB82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B829"/>
                </a:solidFill>
                <a:latin typeface="Arial"/>
                <a:ea typeface="Arial"/>
                <a:cs typeface="Arial"/>
              </a:rPr>
              <a:t>Экранов и пользовательского результата для показа пока нет. Это маршрут приёмки, не запись работающего продукта.</a:t>
            </a:r>
          </a:p>
        </p:txBody>
      </p:sp>
      <p:sp>
        <p:nvSpPr>
          <p:cNvPr id="10" name="text-1150-668-09">
            <a:extLst xmlns:a="http://schemas.openxmlformats.org/drawingml/2006/main">
              <a:ext uri="{FF2B5EF4-FFF2-40B4-BE49-F238E27FC236}">
                <a16:creationId xmlns:a16="http://schemas.microsoft.com/office/drawing/2014/main" id="{35E091AA-7CDC-484A-850B-C3F419768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125" b="0">
                <a:solidFill>
                  <a:srgbClr val="5F5F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F5F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5F5F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0643241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78-47-10 · АЛЬТЕРНАТИВЫ">
            <a:extLst xmlns:a="http://schemas.openxmlformats.org/drawingml/2006/main">
              <a:ext uri="{FF2B5EF4-FFF2-40B4-BE49-F238E27FC236}">
                <a16:creationId xmlns:a16="http://schemas.microsoft.com/office/drawing/2014/main" id="{B15C8B94-B9F8-498A-BF66-C2AD42D0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052FF"/>
                </a:solidFill>
                <a:latin typeface="Arial"/>
                <a:ea typeface="Arial"/>
                <a:cs typeface="Arial"/>
              </a:rPr>
              <a:t>10 · АЛЬТЕРНАТИВЫ</a:t>
            </a:r>
          </a:p>
        </p:txBody>
      </p:sp>
      <p:sp>
        <p:nvSpPr>
          <p:cNvPr id="2" name="text-78-95-Первые критерии сравнения за">
            <a:extLst xmlns:a="http://schemas.openxmlformats.org/drawingml/2006/main">
              <a:ext uri="{FF2B5EF4-FFF2-40B4-BE49-F238E27FC236}">
                <a16:creationId xmlns:a16="http://schemas.microsoft.com/office/drawing/2014/main" id="{C649D11E-E40D-4B62-ADAA-9277E5EA7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04875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Первые критерии сравнения задают способы, которые описал R02</a:t>
            </a:r>
          </a:p>
        </p:txBody>
      </p:sp>
      <p:sp>
        <p:nvSpPr>
          <p:cNvPr id="3" name="text-78-222-Текущие способы">
            <a:extLst xmlns:a="http://schemas.openxmlformats.org/drawingml/2006/main">
              <a:ext uri="{FF2B5EF4-FFF2-40B4-BE49-F238E27FC236}">
                <a16:creationId xmlns:a16="http://schemas.microsoft.com/office/drawing/2014/main" id="{70097B61-628A-4F0D-B022-8DA85FC41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3476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7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052FF"/>
                </a:solidFill>
                <a:latin typeface="Arial"/>
                <a:ea typeface="Arial"/>
                <a:cs typeface="Arial"/>
              </a:rPr>
              <a:t>Текущие способы</a:t>
            </a:r>
          </a:p>
        </p:txBody>
      </p:sp>
      <p:sp>
        <p:nvSpPr>
          <p:cNvPr id="4" name="text-78-286-Поиск в сети&#10;AI&#10;Подрядчик">
            <a:extLst xmlns:a="http://schemas.openxmlformats.org/drawingml/2006/main">
              <a:ext uri="{FF2B5EF4-FFF2-40B4-BE49-F238E27FC236}">
                <a16:creationId xmlns:a16="http://schemas.microsoft.com/office/drawing/2014/main" id="{F16984CD-2FB2-4BC5-918B-0D5489979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28575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Поиск в сети</a:t>
            </a:r>
          </a:p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AI</a:t>
            </a:r>
          </a:p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Подрядчик</a:t>
            </a:r>
          </a:p>
        </p:txBody>
      </p:sp>
      <p:sp>
        <p:nvSpPr>
          <p:cNvPr id="5" name="text-600-222-Что проверим у CoreTeams">
            <a:extLst xmlns:a="http://schemas.openxmlformats.org/drawingml/2006/main">
              <a:ext uri="{FF2B5EF4-FFF2-40B4-BE49-F238E27FC236}">
                <a16:creationId xmlns:a16="http://schemas.microsoft.com/office/drawing/2014/main" id="{50E84D16-BEBC-47D8-BCB4-25C843F90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14550"/>
            <a:ext cx="485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7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052FF"/>
                </a:solidFill>
                <a:latin typeface="Arial"/>
                <a:ea typeface="Arial"/>
                <a:cs typeface="Arial"/>
              </a:rPr>
              <a:t>Что проверим у CoreTeams</a:t>
            </a:r>
          </a:p>
        </p:txBody>
      </p:sp>
      <p:sp>
        <p:nvSpPr>
          <p:cNvPr id="6" name="text-600-286-Насколько понятен следующий ">
            <a:extLst xmlns:a="http://schemas.openxmlformats.org/drawingml/2006/main">
              <a:ext uri="{FF2B5EF4-FFF2-40B4-BE49-F238E27FC236}">
                <a16:creationId xmlns:a16="http://schemas.microsoft.com/office/drawing/2014/main" id="{2EDAA25E-93D1-41D9-A317-ED29E0B8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24150"/>
            <a:ext cx="49530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8D8D8"/>
                </a:solidFill>
                <a:latin typeface="Arial"/>
                <a:ea typeface="Arial"/>
                <a:cs typeface="Arial"/>
              </a:rPr>
              <a:t>Насколько понятен следующий шаг</a:t>
            </a:r>
          </a:p>
          <a:p xmlns:a="http://schemas.openxmlformats.org/drawingml/2006/main">
            <a:pPr algn="l">
              <a:defRPr sz="1725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8D8D8"/>
                </a:solidFill>
                <a:latin typeface="Arial"/>
                <a:ea typeface="Arial"/>
                <a:cs typeface="Arial"/>
              </a:rPr>
              <a:t>Можно ли проверить ключевые источники</a:t>
            </a:r>
          </a:p>
          <a:p xmlns:a="http://schemas.openxmlformats.org/drawingml/2006/main">
            <a:pPr algn="l">
              <a:defRPr sz="1725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8D8D8"/>
                </a:solidFill>
                <a:latin typeface="Arial"/>
                <a:ea typeface="Arial"/>
                <a:cs typeface="Arial"/>
              </a:rPr>
              <a:t>Что осталось неразрешённым</a:t>
            </a:r>
          </a:p>
        </p:txBody>
      </p:sp>
      <p:sp>
        <p:nvSpPr>
          <p:cNvPr id="7" name="text-78-562-Это план сравнения с текущим">
            <a:extLst xmlns:a="http://schemas.openxmlformats.org/drawingml/2006/main">
              <a:ext uri="{FF2B5EF4-FFF2-40B4-BE49-F238E27FC236}">
                <a16:creationId xmlns:a16="http://schemas.microsoft.com/office/drawing/2014/main" id="{972EE03D-56B0-4638-A082-D737B58FD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53050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FFB8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FFB82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B829"/>
                </a:solidFill>
                <a:latin typeface="Arial"/>
                <a:ea typeface="Arial"/>
                <a:cs typeface="Arial"/>
              </a:rPr>
              <a:t>Это план сравнения с текущим способом R02. Конкуренты, цены и сравнительные преимущества ещё не исследованы.</a:t>
            </a:r>
          </a:p>
        </p:txBody>
      </p:sp>
      <p:sp>
        <p:nvSpPr>
          <p:cNvPr id="8" name="text-1150-668-10">
            <a:extLst xmlns:a="http://schemas.openxmlformats.org/drawingml/2006/main">
              <a:ext uri="{FF2B5EF4-FFF2-40B4-BE49-F238E27FC236}">
                <a16:creationId xmlns:a16="http://schemas.microsoft.com/office/drawing/2014/main" id="{5E66C267-64B1-44E6-891A-F55E59547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125" b="0">
                <a:solidFill>
                  <a:srgbClr val="5F5F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F5F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5F5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0687909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78-47-11 · МЕТРИКИ">
            <a:extLst xmlns:a="http://schemas.openxmlformats.org/drawingml/2006/main">
              <a:ext uri="{FF2B5EF4-FFF2-40B4-BE49-F238E27FC236}">
                <a16:creationId xmlns:a16="http://schemas.microsoft.com/office/drawing/2014/main" id="{9ED6B5C9-01C1-4591-B906-31303407D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052FF"/>
                </a:solidFill>
                <a:latin typeface="Arial"/>
                <a:ea typeface="Arial"/>
                <a:cs typeface="Arial"/>
              </a:rPr>
              <a:t>11 · МЕТРИКИ</a:t>
            </a:r>
          </a:p>
        </p:txBody>
      </p:sp>
      <p:sp>
        <p:nvSpPr>
          <p:cNvPr id="2" name="text-78-95-Пользовательские результаты ">
            <a:extLst xmlns:a="http://schemas.openxmlformats.org/drawingml/2006/main">
              <a:ext uri="{FF2B5EF4-FFF2-40B4-BE49-F238E27FC236}">
                <a16:creationId xmlns:a16="http://schemas.microsoft.com/office/drawing/2014/main" id="{A9677CA5-02EE-4CFF-AC98-3F47E8E68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04875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Пользовательские результаты и продуктовые метрики пока не измерены</a:t>
            </a:r>
          </a:p>
        </p:txBody>
      </p:sp>
      <p:sp>
        <p:nvSpPr>
          <p:cNvPr id="3" name="text-78-236-ДО ПРОТОТИПА">
            <a:extLst xmlns:a="http://schemas.openxmlformats.org/drawingml/2006/main">
              <a:ext uri="{FF2B5EF4-FFF2-40B4-BE49-F238E27FC236}">
                <a16:creationId xmlns:a16="http://schemas.microsoft.com/office/drawing/2014/main" id="{13983D3F-3B67-4B14-8D48-A4E68B60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47900"/>
            <a:ext cx="295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052FF"/>
                </a:solidFill>
                <a:latin typeface="Arial"/>
                <a:ea typeface="Arial"/>
                <a:cs typeface="Arial"/>
              </a:rPr>
              <a:t>ДО ПРОТОТИПА</a:t>
            </a:r>
          </a:p>
        </p:txBody>
      </p:sp>
      <p:sp>
        <p:nvSpPr>
          <p:cNvPr id="4" name="text-78-298-NOT RUN">
            <a:extLst xmlns:a="http://schemas.openxmlformats.org/drawingml/2006/main">
              <a:ext uri="{FF2B5EF4-FFF2-40B4-BE49-F238E27FC236}">
                <a16:creationId xmlns:a16="http://schemas.microsoft.com/office/drawing/2014/main" id="{447804DA-49F4-48F6-B999-ADD0E04EE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850" b="1">
                <a:solidFill>
                  <a:srgbClr val="FFB8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FFB829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B829"/>
                </a:solidFill>
                <a:latin typeface="Arial"/>
                <a:ea typeface="Arial"/>
                <a:cs typeface="Arial"/>
              </a:rPr>
              <a:t>NOT RUN</a:t>
            </a:r>
          </a:p>
        </p:txBody>
      </p:sp>
      <p:sp>
        <p:nvSpPr>
          <p:cNvPr id="5" name="text-78-380-Активное время&#10;Ожидание и па">
            <a:extLst xmlns:a="http://schemas.openxmlformats.org/drawingml/2006/main">
              <a:ext uri="{FF2B5EF4-FFF2-40B4-BE49-F238E27FC236}">
                <a16:creationId xmlns:a16="http://schemas.microsoft.com/office/drawing/2014/main" id="{E44F3C5D-6A35-4741-B023-954727DD3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0"/>
            <a:ext cx="3810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8D8D8"/>
                </a:solidFill>
                <a:latin typeface="Arial"/>
                <a:ea typeface="Arial"/>
                <a:cs typeface="Arial"/>
              </a:rPr>
              <a:t>Активное время</a:t>
            </a:r>
          </a:p>
          <a:p xmlns:a="http://schemas.openxmlformats.org/drawingml/2006/main">
            <a:pPr algn="l">
              <a:defRPr sz="1650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8D8D8"/>
                </a:solidFill>
                <a:latin typeface="Arial"/>
                <a:ea typeface="Arial"/>
                <a:cs typeface="Arial"/>
              </a:rPr>
              <a:t>Ожидание и паузы</a:t>
            </a:r>
          </a:p>
          <a:p xmlns:a="http://schemas.openxmlformats.org/drawingml/2006/main">
            <a:pPr algn="l">
              <a:defRPr sz="1650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8D8D8"/>
                </a:solidFill>
                <a:latin typeface="Arial"/>
                <a:ea typeface="Arial"/>
                <a:cs typeface="Arial"/>
              </a:rPr>
              <a:t>Источники и перепроверка</a:t>
            </a:r>
          </a:p>
        </p:txBody>
      </p:sp>
      <p:sp>
        <p:nvSpPr>
          <p:cNvPr id="6" name="text-666-236-С ПРОТОТИПОМ">
            <a:extLst xmlns:a="http://schemas.openxmlformats.org/drawingml/2006/main">
              <a:ext uri="{FF2B5EF4-FFF2-40B4-BE49-F238E27FC236}">
                <a16:creationId xmlns:a16="http://schemas.microsoft.com/office/drawing/2014/main" id="{14522EE1-AEEB-433E-BA0B-9FBB91DD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4790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052FF"/>
                </a:solidFill>
                <a:latin typeface="Arial"/>
                <a:ea typeface="Arial"/>
                <a:cs typeface="Arial"/>
              </a:rPr>
              <a:t>С ПРОТОТИПОМ</a:t>
            </a:r>
          </a:p>
        </p:txBody>
      </p:sp>
      <p:sp>
        <p:nvSpPr>
          <p:cNvPr id="7" name="text-666-298-NOT RUN">
            <a:extLst xmlns:a="http://schemas.openxmlformats.org/drawingml/2006/main">
              <a:ext uri="{FF2B5EF4-FFF2-40B4-BE49-F238E27FC236}">
                <a16:creationId xmlns:a16="http://schemas.microsoft.com/office/drawing/2014/main" id="{4CF2AC63-2946-4665-BD54-7910F0121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3845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850" b="1">
                <a:solidFill>
                  <a:srgbClr val="FFB8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FFB829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B829"/>
                </a:solidFill>
                <a:latin typeface="Arial"/>
                <a:ea typeface="Arial"/>
                <a:cs typeface="Arial"/>
              </a:rPr>
              <a:t>NOT RUN</a:t>
            </a:r>
          </a:p>
        </p:txBody>
      </p:sp>
      <p:sp>
        <p:nvSpPr>
          <p:cNvPr id="8" name="text-666-380-Завершение задачи&#10;Ошибки и з">
            <a:extLst xmlns:a="http://schemas.openxmlformats.org/drawingml/2006/main">
              <a:ext uri="{FF2B5EF4-FFF2-40B4-BE49-F238E27FC236}">
                <a16:creationId xmlns:a16="http://schemas.microsoft.com/office/drawing/2014/main" id="{91055BA1-A9D8-4CD6-AD57-3FD7663A0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19500"/>
            <a:ext cx="4667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8D8D8"/>
                </a:solidFill>
                <a:latin typeface="Arial"/>
                <a:ea typeface="Arial"/>
                <a:cs typeface="Arial"/>
              </a:rPr>
              <a:t>Завершение задачи</a:t>
            </a:r>
          </a:p>
          <a:p xmlns:a="http://schemas.openxmlformats.org/drawingml/2006/main">
            <a:pPr algn="l">
              <a:defRPr sz="1650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8D8D8"/>
                </a:solidFill>
                <a:latin typeface="Arial"/>
                <a:ea typeface="Arial"/>
                <a:cs typeface="Arial"/>
              </a:rPr>
              <a:t>Ошибки и запросы помощи</a:t>
            </a:r>
          </a:p>
          <a:p xmlns:a="http://schemas.openxmlformats.org/drawingml/2006/main">
            <a:pPr algn="l">
              <a:defRPr sz="1650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8D8D8"/>
                </a:solidFill>
                <a:latin typeface="Arial"/>
                <a:ea typeface="Arial"/>
                <a:cs typeface="Arial"/>
              </a:rPr>
              <a:t>Применимость и проверка источников</a:t>
            </a:r>
          </a:p>
        </p:txBody>
      </p:sp>
      <p:sp>
        <p:nvSpPr>
          <p:cNvPr id="9" name="text-78-566-Пустое значение означает «не">
            <a:extLst xmlns:a="http://schemas.openxmlformats.org/drawingml/2006/main">
              <a:ext uri="{FF2B5EF4-FFF2-40B4-BE49-F238E27FC236}">
                <a16:creationId xmlns:a16="http://schemas.microsoft.com/office/drawing/2014/main" id="{54D5FDC8-49DD-4D7E-8BAD-10CD0049B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Пустое значение означает «не собрано», а не ноль.</a:t>
            </a:r>
          </a:p>
        </p:txBody>
      </p:sp>
      <p:sp>
        <p:nvSpPr>
          <p:cNvPr id="10" name="text-1150-668-11">
            <a:extLst xmlns:a="http://schemas.openxmlformats.org/drawingml/2006/main">
              <a:ext uri="{FF2B5EF4-FFF2-40B4-BE49-F238E27FC236}">
                <a16:creationId xmlns:a16="http://schemas.microsoft.com/office/drawing/2014/main" id="{69B6A995-1CC1-47F0-9B30-170F490B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125" b="0">
                <a:solidFill>
                  <a:srgbClr val="5F5F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F5F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5F5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5866171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78-47-12 · ЭКОНОМИКА И ТАРИФ">
            <a:extLst xmlns:a="http://schemas.openxmlformats.org/drawingml/2006/main">
              <a:ext uri="{FF2B5EF4-FFF2-40B4-BE49-F238E27FC236}">
                <a16:creationId xmlns:a16="http://schemas.microsoft.com/office/drawing/2014/main" id="{A3046917-1236-4AA0-BFF7-42F77319E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052FF"/>
                </a:solidFill>
                <a:latin typeface="Arial"/>
                <a:ea typeface="Arial"/>
                <a:cs typeface="Arial"/>
              </a:rPr>
              <a:t>12 · ЭКОНОМИКА И ТАРИФ</a:t>
            </a:r>
          </a:p>
        </p:txBody>
      </p:sp>
      <p:sp>
        <p:nvSpPr>
          <p:cNvPr id="2" name="text-78-95-Тариф появится после измерен">
            <a:extLst xmlns:a="http://schemas.openxmlformats.org/drawingml/2006/main">
              <a:ext uri="{FF2B5EF4-FFF2-40B4-BE49-F238E27FC236}">
                <a16:creationId xmlns:a16="http://schemas.microsoft.com/office/drawing/2014/main" id="{E6BA8A4D-AB63-471D-9EE7-E20245491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04875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Тариф появится после измерения ценности и себестоимости одного запуска</a:t>
            </a:r>
          </a:p>
        </p:txBody>
      </p:sp>
      <p:sp>
        <p:nvSpPr>
          <p:cNvPr id="3" name="text-80-232-Ценность для владельца">
            <a:extLst xmlns:a="http://schemas.openxmlformats.org/drawingml/2006/main">
              <a:ext uri="{FF2B5EF4-FFF2-40B4-BE49-F238E27FC236}">
                <a16:creationId xmlns:a16="http://schemas.microsoft.com/office/drawing/2014/main" id="{785C83D1-54F6-4990-85CF-1A94F9F26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00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8052FF"/>
                </a:solidFill>
                <a:latin typeface="Arial"/>
                <a:ea typeface="Arial"/>
                <a:cs typeface="Arial"/>
              </a:rPr>
              <a:t>Ценность для владельца</a:t>
            </a:r>
          </a:p>
        </p:txBody>
      </p:sp>
      <p:sp>
        <p:nvSpPr>
          <p:cNvPr id="4" name="text-80-298-Сравнить активное время, ожи">
            <a:extLst xmlns:a="http://schemas.openxmlformats.org/drawingml/2006/main">
              <a:ext uri="{FF2B5EF4-FFF2-40B4-BE49-F238E27FC236}">
                <a16:creationId xmlns:a16="http://schemas.microsoft.com/office/drawing/2014/main" id="{B27646BA-258A-481B-8076-6EDFF9247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8D8D8"/>
                </a:solidFill>
                <a:latin typeface="Arial"/>
                <a:ea typeface="Arial"/>
                <a:cs typeface="Arial"/>
              </a:rPr>
              <a:t>Сравнить активное время, ожидание и переделки на одной задаче до и после прототипа.</a:t>
            </a:r>
          </a:p>
        </p:txBody>
      </p:sp>
      <p:sp>
        <p:nvSpPr>
          <p:cNvPr id="5" name="text-670-232-Себестоимость запуска">
            <a:extLst xmlns:a="http://schemas.openxmlformats.org/drawingml/2006/main">
              <a:ext uri="{FF2B5EF4-FFF2-40B4-BE49-F238E27FC236}">
                <a16:creationId xmlns:a16="http://schemas.microsoft.com/office/drawing/2014/main" id="{4B68D180-B4E2-4E18-B5A3-E953F2FE9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098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00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8052FF"/>
                </a:solidFill>
                <a:latin typeface="Arial"/>
                <a:ea typeface="Arial"/>
                <a:cs typeface="Arial"/>
              </a:rPr>
              <a:t>Себестоимость запуска</a:t>
            </a:r>
          </a:p>
        </p:txBody>
      </p:sp>
      <p:sp>
        <p:nvSpPr>
          <p:cNvPr id="6" name="text-670-298-Учесть внешние сервисы, рабо">
            <a:extLst xmlns:a="http://schemas.openxmlformats.org/drawingml/2006/main">
              <a:ext uri="{FF2B5EF4-FFF2-40B4-BE49-F238E27FC236}">
                <a16:creationId xmlns:a16="http://schemas.microsoft.com/office/drawing/2014/main" id="{FC41E04D-AEBB-4834-AEF3-B94D93EFE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38450"/>
            <a:ext cx="4191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8D8D8"/>
                </a:solidFill>
                <a:latin typeface="Arial"/>
                <a:ea typeface="Arial"/>
                <a:cs typeface="Arial"/>
              </a:rPr>
              <a:t>Учесть внешние сервисы, работу оператора, проверку результата, хранение и поддержку.</a:t>
            </a:r>
          </a:p>
        </p:txBody>
      </p:sp>
      <p:sp>
        <p:nvSpPr>
          <p:cNvPr id="7" name="text-80-568-Цена пока не установлена. Не">
            <a:extLst xmlns:a="http://schemas.openxmlformats.org/drawingml/2006/main">
              <a:ext uri="{FF2B5EF4-FFF2-40B4-BE49-F238E27FC236}">
                <a16:creationId xmlns:a16="http://schemas.microsoft.com/office/drawing/2014/main" id="{21841C95-BF12-4F58-87B7-495A8C271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102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FFB8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FFB82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B829"/>
                </a:solidFill>
                <a:latin typeface="Arial"/>
                <a:ea typeface="Arial"/>
                <a:cs typeface="Arial"/>
              </a:rPr>
              <a:t>Цена пока не установлена. Нет данных ни для unit economics, ни для сравнения с альтернативами.</a:t>
            </a:r>
          </a:p>
        </p:txBody>
      </p:sp>
      <p:sp>
        <p:nvSpPr>
          <p:cNvPr id="8" name="text-1150-668-12">
            <a:extLst xmlns:a="http://schemas.openxmlformats.org/drawingml/2006/main">
              <a:ext uri="{FF2B5EF4-FFF2-40B4-BE49-F238E27FC236}">
                <a16:creationId xmlns:a16="http://schemas.microsoft.com/office/drawing/2014/main" id="{5991E8D1-2308-4D74-AA15-4A5E18F1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125" b="0">
                <a:solidFill>
                  <a:srgbClr val="5F5F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F5F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5F5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3777179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78-47-13 · СЛЕДУЮЩИЙ СПРИНТ">
            <a:extLst xmlns:a="http://schemas.openxmlformats.org/drawingml/2006/main">
              <a:ext uri="{FF2B5EF4-FFF2-40B4-BE49-F238E27FC236}">
                <a16:creationId xmlns:a16="http://schemas.microsoft.com/office/drawing/2014/main" id="{6310D2CE-53FE-4DA0-8CE2-97D806494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052FF"/>
                </a:solidFill>
                <a:latin typeface="Arial"/>
                <a:ea typeface="Arial"/>
                <a:cs typeface="Arial"/>
              </a:rPr>
              <a:t>13 · СЛЕДУЮЩИЙ СПРИНТ</a:t>
            </a:r>
          </a:p>
        </p:txBody>
      </p:sp>
      <p:sp>
        <p:nvSpPr>
          <p:cNvPr id="2" name="text-78-95-Следующий проход требует уча">
            <a:extLst xmlns:a="http://schemas.openxmlformats.org/drawingml/2006/main">
              <a:ext uri="{FF2B5EF4-FFF2-40B4-BE49-F238E27FC236}">
                <a16:creationId xmlns:a16="http://schemas.microsoft.com/office/drawing/2014/main" id="{8912512C-AC04-4843-9FC7-532BD232F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04875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Следующий проход требует участника, согласия и проверенного пути</a:t>
            </a:r>
          </a:p>
        </p:txBody>
      </p:sp>
      <p:sp>
        <p:nvSpPr>
          <p:cNvPr id="3" name="text-78-222-1 · Найти подходящего владел">
            <a:extLst xmlns:a="http://schemas.openxmlformats.org/drawingml/2006/main">
              <a:ext uri="{FF2B5EF4-FFF2-40B4-BE49-F238E27FC236}">
                <a16:creationId xmlns:a16="http://schemas.microsoft.com/office/drawing/2014/main" id="{7F84EA63-DF96-45BD-B00F-C9E03CA27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 · Найти подходящего владельца</a:t>
            </a:r>
          </a:p>
        </p:txBody>
      </p:sp>
      <p:sp>
        <p:nvSpPr>
          <p:cNvPr id="4" name="text-78-274-Катя: проверить критерии, по">
            <a:extLst xmlns:a="http://schemas.openxmlformats.org/drawingml/2006/main">
              <a:ext uri="{FF2B5EF4-FFF2-40B4-BE49-F238E27FC236}">
                <a16:creationId xmlns:a16="http://schemas.microsoft.com/office/drawing/2014/main" id="{9EDCE1F7-CD8D-4001-839F-AE68F102A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4524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9A9A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9A9A9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A9A9A"/>
                </a:solidFill>
                <a:latin typeface="Arial"/>
                <a:ea typeface="Arial"/>
                <a:cs typeface="Arial"/>
              </a:rPr>
              <a:t>Катя: проверить критерии, получить отдельную готовность и согласие.</a:t>
            </a:r>
          </a:p>
        </p:txBody>
      </p:sp>
      <p:sp>
        <p:nvSpPr>
          <p:cNvPr id="5" name="text-650-222-2 · Закрыть технические усло">
            <a:extLst xmlns:a="http://schemas.openxmlformats.org/drawingml/2006/main">
              <a:ext uri="{FF2B5EF4-FFF2-40B4-BE49-F238E27FC236}">
                <a16:creationId xmlns:a16="http://schemas.microsoft.com/office/drawing/2014/main" id="{0EA8278C-3C67-4A11-AB46-3A178B77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145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 · Закрыть технические условия</a:t>
            </a:r>
          </a:p>
        </p:txBody>
      </p:sp>
      <p:sp>
        <p:nvSpPr>
          <p:cNvPr id="6" name="text-650-274-Илья: CTF-контракт. Арина: с">
            <a:extLst xmlns:a="http://schemas.openxmlformats.org/drawingml/2006/main">
              <a:ext uri="{FF2B5EF4-FFF2-40B4-BE49-F238E27FC236}">
                <a16:creationId xmlns:a16="http://schemas.microsoft.com/office/drawing/2014/main" id="{A417919A-25BE-47B6-91D5-8079F83E6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0985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9A9A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9A9A9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A9A9A"/>
                </a:solidFill>
                <a:latin typeface="Arial"/>
                <a:ea typeface="Arial"/>
                <a:cs typeface="Arial"/>
              </a:rPr>
              <a:t>Илья: CTF-контракт. Арина: схема хранения. Филипп: CI, сервер и готовность к тесту.</a:t>
            </a:r>
          </a:p>
        </p:txBody>
      </p:sp>
      <p:sp>
        <p:nvSpPr>
          <p:cNvPr id="7" name="text-78-396-3 · Зафиксировать исходный з">
            <a:extLst xmlns:a="http://schemas.openxmlformats.org/drawingml/2006/main">
              <a:ext uri="{FF2B5EF4-FFF2-40B4-BE49-F238E27FC236}">
                <a16:creationId xmlns:a16="http://schemas.microsoft.com/office/drawing/2014/main" id="{F3AD96F9-ECCF-4296-B979-F58804A8E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719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 · Зафиксировать исходный замер</a:t>
            </a:r>
          </a:p>
        </p:txBody>
      </p:sp>
      <p:sp>
        <p:nvSpPr>
          <p:cNvPr id="8" name="text-78-448-К прототипу перейти после пр">
            <a:extLst xmlns:a="http://schemas.openxmlformats.org/drawingml/2006/main">
              <a:ext uri="{FF2B5EF4-FFF2-40B4-BE49-F238E27FC236}">
                <a16:creationId xmlns:a16="http://schemas.microsoft.com/office/drawing/2014/main" id="{A563A17A-468D-4181-B22A-872D2AE2B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4686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9A9A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9A9A9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A9A9A"/>
                </a:solidFill>
                <a:latin typeface="Arial"/>
                <a:ea typeface="Arial"/>
                <a:cs typeface="Arial"/>
              </a:rPr>
              <a:t>К прототипу перейти после проверки пути и отдельного согласия.</a:t>
            </a:r>
          </a:p>
        </p:txBody>
      </p:sp>
      <p:sp>
        <p:nvSpPr>
          <p:cNvPr id="9" name="text-650-432-Запрошенный срок результатов">
            <a:extLst xmlns:a="http://schemas.openxmlformats.org/drawingml/2006/main">
              <a:ext uri="{FF2B5EF4-FFF2-40B4-BE49-F238E27FC236}">
                <a16:creationId xmlns:a16="http://schemas.microsoft.com/office/drawing/2014/main" id="{F4650332-1620-4C02-A363-4EFB85226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14800"/>
            <a:ext cx="4857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0">
                <a:solidFill>
                  <a:srgbClr val="FFB8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FFB82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B829"/>
                </a:solidFill>
                <a:latin typeface="Arial"/>
                <a:ea typeface="Arial"/>
                <a:cs typeface="Arial"/>
              </a:rPr>
              <a:t>Запрошенный срок результатов: 17 октября, 00:59 MSK. Это целевой срок, не подтверждение готовности зависимостей.</a:t>
            </a:r>
          </a:p>
        </p:txBody>
      </p:sp>
      <p:sp>
        <p:nvSpPr>
          <p:cNvPr id="10" name="text-1150-668-13">
            <a:extLst xmlns:a="http://schemas.openxmlformats.org/drawingml/2006/main">
              <a:ext uri="{FF2B5EF4-FFF2-40B4-BE49-F238E27FC236}">
                <a16:creationId xmlns:a16="http://schemas.microsoft.com/office/drawing/2014/main" id="{822EFC01-6723-4494-B20E-DA1D2C80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125" b="0">
                <a:solidFill>
                  <a:srgbClr val="5F5F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F5F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5F5F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0639278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78-47-14 · ТЕХНОЛОГИЧЕСКИЙ СТЕК">
            <a:extLst xmlns:a="http://schemas.openxmlformats.org/drawingml/2006/main">
              <a:ext uri="{FF2B5EF4-FFF2-40B4-BE49-F238E27FC236}">
                <a16:creationId xmlns:a16="http://schemas.microsoft.com/office/drawing/2014/main" id="{3CC9779C-C497-46A2-83CA-2DA8F385D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052FF"/>
                </a:solidFill>
                <a:latin typeface="Arial"/>
                <a:ea typeface="Arial"/>
                <a:cs typeface="Arial"/>
              </a:rPr>
              <a:t>14 · ТЕХНОЛОГИЧЕСКИЙ СТЕК</a:t>
            </a:r>
          </a:p>
        </p:txBody>
      </p:sp>
      <p:sp>
        <p:nvSpPr>
          <p:cNvPr id="2" name="text-78-95-WEB-сборка проходит проверки">
            <a:extLst xmlns:a="http://schemas.openxmlformats.org/drawingml/2006/main">
              <a:ext uri="{FF2B5EF4-FFF2-40B4-BE49-F238E27FC236}">
                <a16:creationId xmlns:a16="http://schemas.microsoft.com/office/drawing/2014/main" id="{1AE86F58-18C4-4816-9A46-28C54AD1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04875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WEB-сборка проходит проверки, а серверный путь ещё требует подтверждения</a:t>
            </a:r>
          </a:p>
        </p:txBody>
      </p:sp>
      <p:sp>
        <p:nvSpPr>
          <p:cNvPr id="3" name="text-78-226-React 19.3.0 · Vite 8.3.4 · ">
            <a:extLst xmlns:a="http://schemas.openxmlformats.org/drawingml/2006/main">
              <a:ext uri="{FF2B5EF4-FFF2-40B4-BE49-F238E27FC236}">
                <a16:creationId xmlns:a16="http://schemas.microsoft.com/office/drawing/2014/main" id="{94A805A3-45F9-4FC2-997A-31E09408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React 19.3.0 · Vite 8.3.4 · TypeScript 5.9</a:t>
            </a:r>
          </a:p>
        </p:txBody>
      </p:sp>
      <p:sp>
        <p:nvSpPr>
          <p:cNvPr id="4" name="text-80-305-Сборка для запуска и 8 модул">
            <a:extLst xmlns:a="http://schemas.openxmlformats.org/drawingml/2006/main">
              <a:ext uri="{FF2B5EF4-FFF2-40B4-BE49-F238E27FC236}">
                <a16:creationId xmlns:a16="http://schemas.microsoft.com/office/drawing/2014/main" id="{08147468-8517-406F-B2D2-DDD7284E6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0512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052FF"/>
                </a:solidFill>
                <a:latin typeface="Arial"/>
                <a:ea typeface="Arial"/>
                <a:cs typeface="Arial"/>
              </a:rPr>
              <a:t>Сборка для запуска и 8 модульных проверок прошли</a:t>
            </a:r>
          </a:p>
        </p:txBody>
      </p:sp>
      <p:sp>
        <p:nvSpPr>
          <p:cNvPr id="5" name="text-80-374-Браузерные проверки на компь">
            <a:extLst xmlns:a="http://schemas.openxmlformats.org/drawingml/2006/main">
              <a:ext uri="{FF2B5EF4-FFF2-40B4-BE49-F238E27FC236}">
                <a16:creationId xmlns:a16="http://schemas.microsoft.com/office/drawing/2014/main" id="{D907B882-5595-41EC-828F-1345A274F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485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8D8D8"/>
                </a:solidFill>
                <a:latin typeface="Arial"/>
                <a:ea typeface="Arial"/>
                <a:cs typeface="Arial"/>
              </a:rPr>
              <a:t>Браузерные проверки на компьютере и телефоне прошли. API предложен; CTF и сохранение на сервере не подключены.</a:t>
            </a:r>
          </a:p>
        </p:txBody>
      </p:sp>
      <p:sp>
        <p:nvSpPr>
          <p:cNvPr id="6" name="text-680-306-CTF контракт">
            <a:extLst xmlns:a="http://schemas.openxmlformats.org/drawingml/2006/main">
              <a:ext uri="{FF2B5EF4-FFF2-40B4-BE49-F238E27FC236}">
                <a16:creationId xmlns:a16="http://schemas.microsoft.com/office/drawing/2014/main" id="{76EABFE9-2D95-42EE-8F9B-1D7D6B53D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146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75" b="1">
                <a:solidFill>
                  <a:srgbClr val="FFB8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FFB82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B829"/>
                </a:solidFill>
                <a:latin typeface="Arial"/>
                <a:ea typeface="Arial"/>
                <a:cs typeface="Arial"/>
              </a:rPr>
              <a:t>CTF контракт</a:t>
            </a:r>
          </a:p>
        </p:txBody>
      </p:sp>
      <p:sp>
        <p:nvSpPr>
          <p:cNvPr id="7" name="text-680-356-Требует подтверждения Ильи">
            <a:extLst xmlns:a="http://schemas.openxmlformats.org/drawingml/2006/main">
              <a:ext uri="{FF2B5EF4-FFF2-40B4-BE49-F238E27FC236}">
                <a16:creationId xmlns:a16="http://schemas.microsoft.com/office/drawing/2014/main" id="{C86900B0-D04B-4E20-8BF6-E3DE29DA7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90900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8D8D8"/>
                </a:solidFill>
                <a:latin typeface="Arial"/>
                <a:ea typeface="Arial"/>
                <a:cs typeface="Arial"/>
              </a:rPr>
              <a:t>Требует подтверждения Ильи</a:t>
            </a:r>
          </a:p>
        </p:txBody>
      </p:sp>
      <p:sp>
        <p:nvSpPr>
          <p:cNvPr id="8" name="text-680-432-Хранилище и деплой">
            <a:extLst xmlns:a="http://schemas.openxmlformats.org/drawingml/2006/main">
              <a:ext uri="{FF2B5EF4-FFF2-40B4-BE49-F238E27FC236}">
                <a16:creationId xmlns:a16="http://schemas.microsoft.com/office/drawing/2014/main" id="{3BA6B3FA-6618-4251-888C-78A0B4924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148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75" b="1">
                <a:solidFill>
                  <a:srgbClr val="FFB8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FFB82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B829"/>
                </a:solidFill>
                <a:latin typeface="Arial"/>
                <a:ea typeface="Arial"/>
                <a:cs typeface="Arial"/>
              </a:rPr>
              <a:t>Хранилище и деплой</a:t>
            </a:r>
          </a:p>
        </p:txBody>
      </p:sp>
      <p:sp>
        <p:nvSpPr>
          <p:cNvPr id="9" name="text-680-480-Архитектура Арины и DEPLOYME">
            <a:extLst xmlns:a="http://schemas.openxmlformats.org/drawingml/2006/main">
              <a:ext uri="{FF2B5EF4-FFF2-40B4-BE49-F238E27FC236}">
                <a16:creationId xmlns:a16="http://schemas.microsoft.com/office/drawing/2014/main" id="{B617CB61-70E2-4891-92F0-D5CD9C929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7200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8D8D8"/>
                </a:solidFill>
                <a:latin typeface="Arial"/>
                <a:ea typeface="Arial"/>
                <a:cs typeface="Arial"/>
              </a:rPr>
              <a:t>Архитектура Арины и DEPLOYMENT_READY Филиппа не подтверждены</a:t>
            </a:r>
          </a:p>
        </p:txBody>
      </p:sp>
      <p:sp>
        <p:nvSpPr>
          <p:cNvPr id="10" name="text-80-582-Frontend-проверки не доказыв">
            <a:extLst xmlns:a="http://schemas.openxmlformats.org/drawingml/2006/main">
              <a:ext uri="{FF2B5EF4-FFF2-40B4-BE49-F238E27FC236}">
                <a16:creationId xmlns:a16="http://schemas.microsoft.com/office/drawing/2014/main" id="{86046D3B-8653-4207-B96D-5EFF972A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435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0">
                <a:solidFill>
                  <a:srgbClr val="9A9A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9A9A9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9A9A9A"/>
                </a:solidFill>
                <a:latin typeface="Arial"/>
                <a:ea typeface="Arial"/>
                <a:cs typeface="Arial"/>
              </a:rPr>
              <a:t>Frontend-проверки не доказывают интеграцию, постоянную запись или готовность деплоя.</a:t>
            </a:r>
          </a:p>
        </p:txBody>
      </p:sp>
      <p:sp>
        <p:nvSpPr>
          <p:cNvPr id="11" name="text-1150-668-14">
            <a:extLst xmlns:a="http://schemas.openxmlformats.org/drawingml/2006/main">
              <a:ext uri="{FF2B5EF4-FFF2-40B4-BE49-F238E27FC236}">
                <a16:creationId xmlns:a16="http://schemas.microsoft.com/office/drawing/2014/main" id="{311908BA-BEB1-40CB-862B-3E431E12C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125" b="0">
                <a:solidFill>
                  <a:srgbClr val="5F5F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F5F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5F5F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00995670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78-47-15 · КОМАНДА И СЛЕДУЮЩЕЕ РЕШ">
            <a:extLst xmlns:a="http://schemas.openxmlformats.org/drawingml/2006/main">
              <a:ext uri="{FF2B5EF4-FFF2-40B4-BE49-F238E27FC236}">
                <a16:creationId xmlns:a16="http://schemas.microsoft.com/office/drawing/2014/main" id="{4C7229CE-2119-4FA4-8A2A-F00CF5BAF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052FF"/>
                </a:solidFill>
                <a:latin typeface="Arial"/>
                <a:ea typeface="Arial"/>
                <a:cs typeface="Arial"/>
              </a:rPr>
              <a:t>15 · КОМАНДА И СЛЕДУЮЩЕЕ РЕШЕНИЕ</a:t>
            </a:r>
          </a:p>
        </p:txBody>
      </p:sp>
      <p:sp>
        <p:nvSpPr>
          <p:cNvPr id="2" name="text-78-95-Пять ролей ведут от гипотезы">
            <a:extLst xmlns:a="http://schemas.openxmlformats.org/drawingml/2006/main">
              <a:ext uri="{FF2B5EF4-FFF2-40B4-BE49-F238E27FC236}">
                <a16:creationId xmlns:a16="http://schemas.microsoft.com/office/drawing/2014/main" id="{78C69000-B0A2-459B-9FB4-05B6BA28C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04875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Пять ролей ведут от гипотезы к проверяемому пилоту</a:t>
            </a:r>
          </a:p>
        </p:txBody>
      </p:sp>
      <p:sp>
        <p:nvSpPr>
          <p:cNvPr id="3" name="text-78-210-Катя">
            <a:extLst xmlns:a="http://schemas.openxmlformats.org/drawingml/2006/main">
              <a:ext uri="{FF2B5EF4-FFF2-40B4-BE49-F238E27FC236}">
                <a16:creationId xmlns:a16="http://schemas.microsoft.com/office/drawing/2014/main" id="{77163E59-8E6F-4225-B3F0-F9EECEF4B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950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8052FF"/>
                </a:solidFill>
                <a:latin typeface="Arial"/>
                <a:ea typeface="Arial"/>
                <a:cs typeface="Arial"/>
              </a:rPr>
              <a:t>Катя</a:t>
            </a:r>
          </a:p>
        </p:txBody>
      </p:sp>
      <p:sp>
        <p:nvSpPr>
          <p:cNvPr id="4" name="text-248-210-WEB и метрики">
            <a:extLst xmlns:a="http://schemas.openxmlformats.org/drawingml/2006/main">
              <a:ext uri="{FF2B5EF4-FFF2-40B4-BE49-F238E27FC236}">
                <a16:creationId xmlns:a16="http://schemas.microsoft.com/office/drawing/2014/main" id="{088039B9-0C3F-4700-B68F-4D8C1DD9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0002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WEB и метрики</a:t>
            </a:r>
          </a:p>
        </p:txBody>
      </p:sp>
      <p:sp>
        <p:nvSpPr>
          <p:cNvPr id="5" name="text-78-278-Илья">
            <a:extLst xmlns:a="http://schemas.openxmlformats.org/drawingml/2006/main">
              <a:ext uri="{FF2B5EF4-FFF2-40B4-BE49-F238E27FC236}">
                <a16:creationId xmlns:a16="http://schemas.microsoft.com/office/drawing/2014/main" id="{A226ACBF-8087-4207-9596-BEC873A44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950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8052FF"/>
                </a:solidFill>
                <a:latin typeface="Arial"/>
                <a:ea typeface="Arial"/>
                <a:cs typeface="Arial"/>
              </a:rPr>
              <a:t>Илья</a:t>
            </a:r>
          </a:p>
        </p:txBody>
      </p:sp>
      <p:sp>
        <p:nvSpPr>
          <p:cNvPr id="6" name="text-248-278-CTF интеграция">
            <a:extLst xmlns:a="http://schemas.openxmlformats.org/drawingml/2006/main">
              <a:ext uri="{FF2B5EF4-FFF2-40B4-BE49-F238E27FC236}">
                <a16:creationId xmlns:a16="http://schemas.microsoft.com/office/drawing/2014/main" id="{EE3F4F84-E7DC-4CA3-9E56-06312596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6479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CTF интеграция</a:t>
            </a:r>
          </a:p>
        </p:txBody>
      </p:sp>
      <p:sp>
        <p:nvSpPr>
          <p:cNvPr id="7" name="text-78-346-Арина">
            <a:extLst xmlns:a="http://schemas.openxmlformats.org/drawingml/2006/main">
              <a:ext uri="{FF2B5EF4-FFF2-40B4-BE49-F238E27FC236}">
                <a16:creationId xmlns:a16="http://schemas.microsoft.com/office/drawing/2014/main" id="{A648CA76-2D2F-4587-A3CD-36616ACB6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956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950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8052FF"/>
                </a:solidFill>
                <a:latin typeface="Arial"/>
                <a:ea typeface="Arial"/>
                <a:cs typeface="Arial"/>
              </a:rPr>
              <a:t>Арина</a:t>
            </a:r>
          </a:p>
        </p:txBody>
      </p:sp>
      <p:sp>
        <p:nvSpPr>
          <p:cNvPr id="8" name="text-248-346-Архитектура хранения">
            <a:extLst xmlns:a="http://schemas.openxmlformats.org/drawingml/2006/main">
              <a:ext uri="{FF2B5EF4-FFF2-40B4-BE49-F238E27FC236}">
                <a16:creationId xmlns:a16="http://schemas.microsoft.com/office/drawing/2014/main" id="{3452EB73-8A22-4AC4-9831-F2983ECB9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2956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Архитектура хранения</a:t>
            </a:r>
          </a:p>
        </p:txBody>
      </p:sp>
      <p:sp>
        <p:nvSpPr>
          <p:cNvPr id="9" name="text-680-210-Филипп">
            <a:extLst xmlns:a="http://schemas.openxmlformats.org/drawingml/2006/main">
              <a:ext uri="{FF2B5EF4-FFF2-40B4-BE49-F238E27FC236}">
                <a16:creationId xmlns:a16="http://schemas.microsoft.com/office/drawing/2014/main" id="{7800E8E9-EAC2-487C-9982-8EE19531B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950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8052FF"/>
                </a:solidFill>
                <a:latin typeface="Arial"/>
                <a:ea typeface="Arial"/>
                <a:cs typeface="Arial"/>
              </a:rPr>
              <a:t>Филипп</a:t>
            </a:r>
          </a:p>
        </p:txBody>
      </p:sp>
      <p:sp>
        <p:nvSpPr>
          <p:cNvPr id="10" name="text-862-210-CI, деплой, подключение хран">
            <a:extLst xmlns:a="http://schemas.openxmlformats.org/drawingml/2006/main">
              <a:ext uri="{FF2B5EF4-FFF2-40B4-BE49-F238E27FC236}">
                <a16:creationId xmlns:a16="http://schemas.microsoft.com/office/drawing/2014/main" id="{0AFEAFA3-456D-4F15-A019-6A1F38DA8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00250"/>
            <a:ext cx="319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CI, деплой, подключение хранения</a:t>
            </a:r>
          </a:p>
        </p:txBody>
      </p:sp>
      <p:sp>
        <p:nvSpPr>
          <p:cNvPr id="11" name="text-680-322-Дмитрий">
            <a:extLst xmlns:a="http://schemas.openxmlformats.org/drawingml/2006/main">
              <a:ext uri="{FF2B5EF4-FFF2-40B4-BE49-F238E27FC236}">
                <a16:creationId xmlns:a16="http://schemas.microsoft.com/office/drawing/2014/main" id="{A91F95B2-0350-47DD-85F4-4405AEF46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670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950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8052FF"/>
                </a:solidFill>
                <a:latin typeface="Arial"/>
                <a:ea typeface="Arial"/>
                <a:cs typeface="Arial"/>
              </a:rPr>
              <a:t>Дмитрий</a:t>
            </a:r>
          </a:p>
        </p:txBody>
      </p:sp>
      <p:sp>
        <p:nvSpPr>
          <p:cNvPr id="12" name="text-862-322-Точечная помощь с React толь">
            <a:extLst xmlns:a="http://schemas.openxmlformats.org/drawingml/2006/main">
              <a:ext uri="{FF2B5EF4-FFF2-40B4-BE49-F238E27FC236}">
                <a16:creationId xmlns:a16="http://schemas.microsoft.com/office/drawing/2014/main" id="{78BC8595-0C91-41E3-9E49-9AD5244A9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067050"/>
            <a:ext cx="323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8D8D8"/>
                </a:solidFill>
                <a:latin typeface="Arial"/>
                <a:ea typeface="Arial"/>
                <a:cs typeface="Arial"/>
              </a:rPr>
              <a:t>Точечная помощь с React только по запросу Кати</a:t>
            </a:r>
          </a:p>
        </p:txBody>
      </p:sp>
      <p:sp>
        <p:nvSpPr>
          <p:cNvPr id="13" name="text-78-536-Следующее решение: проверить">
            <a:extLst xmlns:a="http://schemas.openxmlformats.org/drawingml/2006/main">
              <a:ext uri="{FF2B5EF4-FFF2-40B4-BE49-F238E27FC236}">
                <a16:creationId xmlns:a16="http://schemas.microsoft.com/office/drawing/2014/main" id="{E784BFC2-1AAB-4CA5-B2D0-3E8F5AE2A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FFB8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FFB82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B829"/>
                </a:solidFill>
                <a:latin typeface="Arial"/>
                <a:ea typeface="Arial"/>
                <a:cs typeface="Arial"/>
              </a:rPr>
              <a:t>Следующее решение: проверить WEB, согласовать CTF и storage, затем подтвердить полный путь до приглашения пользователя.</a:t>
            </a:r>
          </a:p>
        </p:txBody>
      </p:sp>
      <p:sp>
        <p:nvSpPr>
          <p:cNvPr id="14" name="text-1150-668-15">
            <a:extLst xmlns:a="http://schemas.openxmlformats.org/drawingml/2006/main">
              <a:ext uri="{FF2B5EF4-FFF2-40B4-BE49-F238E27FC236}">
                <a16:creationId xmlns:a16="http://schemas.microsoft.com/office/drawing/2014/main" id="{1236A85E-9EBD-4844-A9E8-11D9E128B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125" b="0">
                <a:solidFill>
                  <a:srgbClr val="5F5F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F5F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5F5F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9457323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2026-10-15T00:28:29.2050000Z</dcterms:created>
  <dcterms:modified xsi:type="dcterms:W3CDTF">2026-10-15T00:28:29.2050000Z</dcterms:modified>
</coreProperties>
</file>