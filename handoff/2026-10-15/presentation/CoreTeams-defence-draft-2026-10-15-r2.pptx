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0d039e76b34fae" /><Relationship Type="http://schemas.openxmlformats.org/officeDocument/2006/relationships/extended-properties" Target="/docProps/app.xml" Id="Rd2143274bd3b4fdb" /><Relationship Type="http://schemas.openxmlformats.org/officeDocument/2006/relationships/officeDocument" Target="/ppt/presentation.xml" Id="R84c9829bfb25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a47f7142043c5"/>
  </p:sldMasterIdLst>
  <p:notesMasterIdLst>
    <p:notesMasterId xmlns:r="http://schemas.openxmlformats.org/officeDocument/2006/relationships" r:id="R33bb87c110b94896"/>
  </p:notesMasterIdLst>
  <p:sldIdLst>
    <p:sldId xmlns:r="http://schemas.openxmlformats.org/officeDocument/2006/relationships" id="256" r:id="R9ce2b102dd8f4da9"/>
    <p:sldId xmlns:r="http://schemas.openxmlformats.org/officeDocument/2006/relationships" id="257" r:id="R6f848525de794ac9"/>
    <p:sldId xmlns:r="http://schemas.openxmlformats.org/officeDocument/2006/relationships" id="258" r:id="R91a1c0097d864b48"/>
    <p:sldId xmlns:r="http://schemas.openxmlformats.org/officeDocument/2006/relationships" id="259" r:id="R9de6f2a604634f81"/>
    <p:sldId xmlns:r="http://schemas.openxmlformats.org/officeDocument/2006/relationships" id="260" r:id="R75988aabfe2b45e0"/>
    <p:sldId xmlns:r="http://schemas.openxmlformats.org/officeDocument/2006/relationships" id="261" r:id="Rc63b955ac2954d02"/>
    <p:sldId xmlns:r="http://schemas.openxmlformats.org/officeDocument/2006/relationships" id="262" r:id="Rc247bde2905943cb"/>
    <p:sldId xmlns:r="http://schemas.openxmlformats.org/officeDocument/2006/relationships" id="263" r:id="Rba7849f3c3e24dda"/>
    <p:sldId xmlns:r="http://schemas.openxmlformats.org/officeDocument/2006/relationships" id="264" r:id="R3fa8831e4cca43a9"/>
    <p:sldId xmlns:r="http://schemas.openxmlformats.org/officeDocument/2006/relationships" id="265" r:id="Re7068bc1cf254c47"/>
    <p:sldId xmlns:r="http://schemas.openxmlformats.org/officeDocument/2006/relationships" id="266" r:id="R3aaa938596024c3b"/>
    <p:sldId xmlns:r="http://schemas.openxmlformats.org/officeDocument/2006/relationships" id="267" r:id="Ra2bc5147362f4af8"/>
    <p:sldId xmlns:r="http://schemas.openxmlformats.org/officeDocument/2006/relationships" id="268" r:id="Rbe7863cdc4a6471a"/>
    <p:sldId xmlns:r="http://schemas.openxmlformats.org/officeDocument/2006/relationships" id="269" r:id="R288e3e80220d4cbc"/>
    <p:sldId xmlns:r="http://schemas.openxmlformats.org/officeDocument/2006/relationships" id="270" r:id="Rdbacafe059da4b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96896b7e34dec" /><Relationship Type="http://schemas.openxmlformats.org/officeDocument/2006/relationships/slideMaster" Target="/ppt/slideMasters/slideMaster1.xml" Id="R011a47f7142043c5" /><Relationship Type="http://schemas.openxmlformats.org/officeDocument/2006/relationships/notesMaster" Target="/ppt/notesMasters/notesMaster1.xml" Id="R33bb87c110b94896" /><Relationship Type="http://schemas.openxmlformats.org/officeDocument/2006/relationships/presProps" Target="/ppt/presProps.xml" Id="Rd6b08783f3c841ab" /><Relationship Type="http://schemas.openxmlformats.org/officeDocument/2006/relationships/tableStyles" Target="/ppt/tableStyles.xml" Id="Rb55cbfbda8ff4d0d" /><Relationship Type="http://schemas.openxmlformats.org/officeDocument/2006/relationships/slide" Target="/ppt/slides/slide1.xml" Id="R9ce2b102dd8f4da9" /><Relationship Type="http://schemas.openxmlformats.org/officeDocument/2006/relationships/slide" Target="/ppt/slides/slide2.xml" Id="R6f848525de794ac9" /><Relationship Type="http://schemas.openxmlformats.org/officeDocument/2006/relationships/slide" Target="/ppt/slides/slide3.xml" Id="R91a1c0097d864b48" /><Relationship Type="http://schemas.openxmlformats.org/officeDocument/2006/relationships/slide" Target="/ppt/slides/slide4.xml" Id="R9de6f2a604634f81" /><Relationship Type="http://schemas.openxmlformats.org/officeDocument/2006/relationships/slide" Target="/ppt/slides/slide5.xml" Id="R75988aabfe2b45e0" /><Relationship Type="http://schemas.openxmlformats.org/officeDocument/2006/relationships/slide" Target="/ppt/slides/slide6.xml" Id="Rc63b955ac2954d02" /><Relationship Type="http://schemas.openxmlformats.org/officeDocument/2006/relationships/slide" Target="/ppt/slides/slide7.xml" Id="Rc247bde2905943cb" /><Relationship Type="http://schemas.openxmlformats.org/officeDocument/2006/relationships/slide" Target="/ppt/slides/slide8.xml" Id="Rba7849f3c3e24dda" /><Relationship Type="http://schemas.openxmlformats.org/officeDocument/2006/relationships/slide" Target="/ppt/slides/slide9.xml" Id="R3fa8831e4cca43a9" /><Relationship Type="http://schemas.openxmlformats.org/officeDocument/2006/relationships/slide" Target="/ppt/slides/slide10.xml" Id="Re7068bc1cf254c47" /><Relationship Type="http://schemas.openxmlformats.org/officeDocument/2006/relationships/slide" Target="/ppt/slides/slide11.xml" Id="R3aaa938596024c3b" /><Relationship Type="http://schemas.openxmlformats.org/officeDocument/2006/relationships/slide" Target="/ppt/slides/slide12.xml" Id="Ra2bc5147362f4af8" /><Relationship Type="http://schemas.openxmlformats.org/officeDocument/2006/relationships/slide" Target="/ppt/slides/slide13.xml" Id="Rbe7863cdc4a6471a" /><Relationship Type="http://schemas.openxmlformats.org/officeDocument/2006/relationships/slide" Target="/ppt/slides/slide14.xml" Id="R288e3e80220d4cbc" /><Relationship Type="http://schemas.openxmlformats.org/officeDocument/2006/relationships/slide" Target="/ppt/slides/slide15.xml" Id="Rdbacafe059da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d2a7dab4f4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2be6d8b6b24bdb" /><Relationship Type="http://schemas.openxmlformats.org/officeDocument/2006/relationships/notesMaster" Target="/ppt/notesMasters/notesMaster1.xml" Id="R8725993c828e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2d2ad752c7466c" /><Relationship Type="http://schemas.openxmlformats.org/officeDocument/2006/relationships/notesMaster" Target="/ppt/notesMasters/notesMaster1.xml" Id="Rd3eb5f98afeb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a23aa08c8b4ea3" /><Relationship Type="http://schemas.openxmlformats.org/officeDocument/2006/relationships/notesMaster" Target="/ppt/notesMasters/notesMaster1.xml" Id="R3054af1d24ca47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38a62e9ba54e43" /><Relationship Type="http://schemas.openxmlformats.org/officeDocument/2006/relationships/notesMaster" Target="/ppt/notesMasters/notesMaster1.xml" Id="R920e834b54b54a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baef396c09439f" /><Relationship Type="http://schemas.openxmlformats.org/officeDocument/2006/relationships/notesMaster" Target="/ppt/notesMasters/notesMaster1.xml" Id="R8d5bee1e2eb9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a8f5f8cebf498d" /><Relationship Type="http://schemas.openxmlformats.org/officeDocument/2006/relationships/notesMaster" Target="/ppt/notesMasters/notesMaster1.xml" Id="Rf23cc7ef721448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6f8d994304a59" /><Relationship Type="http://schemas.openxmlformats.org/officeDocument/2006/relationships/notesMaster" Target="/ppt/notesMasters/notesMaster1.xml" Id="R8f337e882afe48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0482d0a15d431e" /><Relationship Type="http://schemas.openxmlformats.org/officeDocument/2006/relationships/notesMaster" Target="/ppt/notesMasters/notesMaster1.xml" Id="Re42b7e76d1974b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ff7068e425460a" /><Relationship Type="http://schemas.openxmlformats.org/officeDocument/2006/relationships/notesMaster" Target="/ppt/notesMasters/notesMaster1.xml" Id="R37d4305b26dc4a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db8295dd7b4024" /><Relationship Type="http://schemas.openxmlformats.org/officeDocument/2006/relationships/notesMaster" Target="/ppt/notesMasters/notesMaster1.xml" Id="Rd078264e02d244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91a6b3fbee4f8c" /><Relationship Type="http://schemas.openxmlformats.org/officeDocument/2006/relationships/notesMaster" Target="/ppt/notesMasters/notesMaster1.xml" Id="R52c00d7bf6a945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2735f5012a4578" /><Relationship Type="http://schemas.openxmlformats.org/officeDocument/2006/relationships/notesMaster" Target="/ppt/notesMasters/notesMaster1.xml" Id="Rac4e65291d0140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01c14d637f4ff1" /><Relationship Type="http://schemas.openxmlformats.org/officeDocument/2006/relationships/notesMaster" Target="/ppt/notesMasters/notesMaster1.xml" Id="Rb687e29a2cee4d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3cf095ab2b4377" /><Relationship Type="http://schemas.openxmlformats.org/officeDocument/2006/relationships/notesMaster" Target="/ppt/notesMasters/notesMaster1.xml" Id="R80aefc93c1a046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52cce48a224783" /><Relationship Type="http://schemas.openxmlformats.org/officeDocument/2006/relationships/notesMaster" Target="/ppt/notesMasters/notesMaster1.xml" Id="Rbfdfd8b917994a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Название продукта неизменно: CoreTeams. Определение владельца: Рабочее пространство с AI-командой для сложных задач вне одной экспертизы. В этом спринте проверяем путь пользователя. Аналитический бриф с внешними источниками — тестовый артефакт, а не новое определение продукта. Пользовательские замеры пока NOT_RUN.</a:t>
            </a:r>
          </a:p>
          <a:p xmlns:a="http://schemas.openxmlformats.org/drawingml/2006/main">
            <a:r>
              <a:t>Источники: уточнение владельца15.10.2026; S1; S4.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анкете R02 респондент ведёт проект самостоятельно, берёт задачи за пределами своей экспертизы и описывает сложности с постановкой задачи, проверкой результата и повторной сверкой. Это единичное наблюдение для выбора следующего исследования, а не доказательство распространённости проблемы.</a:t>
            </a:r>
          </a:p>
          <a:p xmlns:a="http://schemas.openxmlformats.org/drawingml/2006/main">
            <a:r>
              <a:t>Источники: S1 (pilot-package.md, разделы Decision and evidence boundary и Baseline before prototype).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 указал поиск в интернете, AI и подрядчика как используемые способы. Также в пакете зафиксированы повторная проверка и итоговые документы со ссылками. Диапазон длительности смешивает разные задачи, поэтому мы не переносим его на будущий baseline.</a:t>
            </a:r>
          </a:p>
          <a:p xmlns:a="http://schemas.openxmlformats.org/drawingml/2006/main">
            <a:r>
              <a:t>Источники: S1, раздел Decision and evidence boundary.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исходной форме восемь ответов. Только R02 однозначно соответствует выбранному контексту владельца/основателя без команды. Воля участвовать не отмечена, контакт отсутствует, согласие на исследовательскую сессию отдельно не собиралось. R03, R05 и R08 не объявляются целевыми пользователями.</a:t>
            </a:r>
          </a:p>
          <a:p xmlns:a="http://schemas.openxmlformats.org/drawingml/2006/main">
            <a:r>
              <a:t>Источники: S1, разделы Segment, JTBD, and eligibility и Privacy-safe screening inventory.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пилотном пакете описаны три task-proto гипотезы. Sprint 1 совпадает с предварительным профилем R02, но до допуска нужен конкретный безопасный кейс, доступ к участнику и отдельное согласие. Для Sprint 2 и Sprint 3 нужны свои подходящие участники; R05 и R03 не засчитываются автоматически.</a:t>
            </a:r>
          </a:p>
          <a:p xmlns:a="http://schemas.openxmlformats.org/drawingml/2006/main">
            <a:r>
              <a:t>Источники: S1, таблица Three sprint task hypotheses и правила advance Sprint.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Пилотный пакет определяет первый артефакт как source-linked decision brief и ZIP с результатом, таблицей источников и метаданными. В данных должно быть видно, где факт, вывод, ограничение или неизвестность. CTF-адаптация навыка, архитектура хранения и полный E2E пока не подтверждены.</a:t>
            </a:r>
          </a:p>
          <a:p xmlns:a="http://schemas.openxmlformats.org/drawingml/2006/main">
            <a:r>
              <a:t>Источники: S1, разделы Segment, JTBD, and eligibility и ZIP deliverable contract; S3.</a:t>
            </a:r>
          </a:p>
          <a:p xmlns:a="http://schemas.openxmlformats.org/drawingml/2006/main">
            <a:r>
              <a:t>Evidence status: S1, S3.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переданных материалах не зафиксированы результаты предыдущей защиты. Поэтому слайд показывает единственное имеющееся предварительное свидетельство и честную границу: продуктовых сессий, baseline и пилотных замеров ещё нет. Длительности нескольких разных задач из анкеты не служат сравнительной базой.</a:t>
            </a:r>
          </a:p>
          <a:p xmlns:a="http://schemas.openxmlformats.org/drawingml/2006/main">
            <a:r>
              <a:t>Источники: S1 (разделы Decision and evidence boundary, Baseline before prototype, Measurement form and comparison); S2.</a:t>
            </a:r>
          </a:p>
          <a:p xmlns:a="http://schemas.openxmlformats.org/drawingml/2006/main">
            <a:r>
              <a:t>Evidence status: S1, S2.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Фокус текущего спринта — путь пользователя: постановка задачи и контекст, запуск, уточнение и ответ, получение результата, сохранение/ZIP, возвращение к проекту. На каждом шаге фиксируем завершение, время, затруднение и запрос помощи. Продуктовая гипотеза — пользователь проходит путь и понимает следующий шаг. Реальная пользовательская проверка ещё NOT_RUN. Технический E2E отдельно подтверждает CTF, постоянное хранение и сервер.</a:t>
            </a:r>
          </a:p>
          <a:p xmlns:a="http://schemas.openxmlformats.org/drawingml/2006/main">
            <a:r>
              <a:t>Источники: уточнение владельца15.10.2026; S1; S4.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маршрут проверки с пользователем, а не доказательство завершённого E2E. Локальный React preview позволяет создать проект и ввести контекст; CTF по умолчанию недоступен. Изолированные тестовые fixtures не считаются реальным CTF. Полный серверный путь и восстановление без browser localStorage требуют согласованного gateway/CTF/storage API.</a:t>
            </a:r>
          </a:p>
          <a:p xmlns:a="http://schemas.openxmlformats.org/drawingml/2006/main">
            <a:r>
              <a:t>Источники: S3; S4; web-app/docs/verification.md; уточнение владельца15.10.2026.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 назвал поиск, AI и подрядчика. Пилотный протокол предлагает проверять на том же task и decision, с тем же качественным порогом и инструментами, насколько сопоставимы baseline и prototype. Имена конкурентов, их цены и преимущества в подтверждённых данных отсутствуют.</a:t>
            </a:r>
          </a:p>
          <a:p xmlns:a="http://schemas.openxmlformats.org/drawingml/2006/main">
            <a:r>
              <a:t>Источники: S1 (Decision and evidence boundary; Baseline before prototype; Measurement form and comparison).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Измерения ведём по каждому шагу: завершение, активное время и ожидание, ошибки/затруднения и помощь. Baseline фиксируется до показа прототипа. Отдельно участник проверяет полезность результата и источники. Измерений пока нет, значения не заменяем нулями.</a:t>
            </a:r>
          </a:p>
          <a:p xmlns:a="http://schemas.openxmlformats.org/drawingml/2006/main">
            <a:r>
              <a:t>Источники: S1; уточнение владельца15.10.2026.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фиксирует измерительные входы, а не тарифную рекомендацию. Для одного сопоставимого task нужно записать активную работу, ожидание и rework в обоих режимах, а также прямые затраты на запуск. В текущем пакете чисел себестоимости, готовности платить или цены нет.</a:t>
            </a:r>
          </a:p>
          <a:p xmlns:a="http://schemas.openxmlformats.org/drawingml/2006/main">
            <a:r>
              <a:t>Источники: S1 (Measurement form and comparison; Dependencies and dates). Значения тарифа отсутствуют.</a:t>
            </a:r>
          </a:p>
          <a:p xmlns:a="http://schemas.openxmlformats.org/drawingml/2006/main">
            <a:r>
              <a:t>Evidence status: S1.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 запускается только после допуска участника и реального DEPLOYMENT_READY. Согласие на baseline и запрос на prototype session разделены. T0 и срок результатов записаны в передаче; точного часа пятничной задачи Филиппа источники не подтверждают, поэтому здесь он не придуман.</a:t>
            </a:r>
          </a:p>
          <a:p xmlns:a="http://schemas.openxmlformats.org/drawingml/2006/main">
            <a:r>
              <a:t>Источники: S1 (Deployment gate, second message, and E2E check; Dependencies and dates); S2; S3.</a:t>
            </a:r>
          </a:p>
          <a:p xmlns:a="http://schemas.openxmlformats.org/drawingml/2006/main">
            <a:r>
              <a:t>Evidence status: S1, S2, S3.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Владелец подтвердил main React/Vite/TypeScript build, восемь unit checks и ранее пройденные browser checks для desktop/mobile. Версии: React 19.3.0, Vite 8.3.4, TypeScript 5.9, сборка на Node 24.19.0. API adapter предложен; live CTF, серверное сохранение и серверная интеграция не реализованы. Browser draft не является гарантией постоянного хранения.</a:t>
            </a:r>
          </a:p>
          <a:p xmlns:a="http://schemas.openxmlformats.org/drawingml/2006/main">
            <a:r>
              <a:t>Источники: S3 (HANDOFF-WEB.md); S2 (Current handoff state); S4 (handoff index); S5 (owner verification update, 15.10.2026).</a:t>
            </a:r>
          </a:p>
          <a:p xmlns:a="http://schemas.openxmlformats.org/drawingml/2006/main">
            <a:r>
              <a:t>Evidence status: S2, S3, S4, S5. Черновик, требует обновления по фактическим результатам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сверены с живыми задачами YouGile15.10.2026. Дмитрий отвечает за gateway, review контракта PPS-170 и интеграцию runner PPS-169; Илья — runner/CTF PPS-137/138; Арина — хранение PPS-167/136/135; Филипп — инфраструктура PPS-166/142; Катя — WEB/метрики и пользователи. Помощь с React остаётся дополнительной и условной. Публикация задач не означает их принятие или выполнение.</a:t>
            </a:r>
          </a:p>
          <a:p xmlns:a="http://schemas.openxmlformats.org/drawingml/2006/main">
            <a:r>
              <a:t>Источники: team-sprint-2-tasks.md; текущие карточки YouGile; уточнение владельца15.10.2026.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3f37b653a44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ad7f71a7741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7d3a540e242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eb8d6728f44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20fc101b84c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dbb41a7cc45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001E0-7C41-422C-953F-129C2C196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2A8E46-8500-495A-BC07-0AAD0187A2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A41172-3037-40DC-8F23-44960516C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488FBE-90D4-4C95-BA05-DCED7F068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B41327-5187-4B03-97D8-42A6ED60D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706A9F-570F-4CAE-AF69-1E8200F53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F68BEA-01A3-4EAE-BD5F-5CDD917D5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D08183-22EA-4F30-8853-751D8774E1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1728AF-A0F5-431C-8E6B-59C95D6A69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B36BE1-5731-40EE-80E9-1419DF416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5b826c50294de2" /><Relationship Type="http://schemas.openxmlformats.org/officeDocument/2006/relationships/slideLayout" Target="/ppt/slideLayouts/slideLayout1.xml" Id="R990cc5fc499b453f" /><Relationship Type="http://schemas.openxmlformats.org/officeDocument/2006/relationships/slideLayout" Target="/ppt/slideLayouts/slideLayout2.xml" Id="R251bc326ecc84e55" /><Relationship Type="http://schemas.openxmlformats.org/officeDocument/2006/relationships/slideLayout" Target="/ppt/slideLayouts/slideLayout3.xml" Id="R7c2f3f050ab649da" /><Relationship Type="http://schemas.openxmlformats.org/officeDocument/2006/relationships/slideLayout" Target="/ppt/slideLayouts/slideLayout4.xml" Id="Ra9ab006c28b34909" /><Relationship Type="http://schemas.openxmlformats.org/officeDocument/2006/relationships/slideLayout" Target="/ppt/slideLayouts/slideLayout5.xml" Id="R95ce817e4a4a40c2" /><Relationship Type="http://schemas.openxmlformats.org/officeDocument/2006/relationships/slideLayout" Target="/ppt/slideLayouts/slideLayout6.xml" Id="R1c9f6b0d867641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cc5fc499b453f"/>
    <p:sldLayoutId xmlns:r="http://schemas.openxmlformats.org/officeDocument/2006/relationships" id="2147483650" r:id="R251bc326ecc84e55"/>
    <p:sldLayoutId xmlns:r="http://schemas.openxmlformats.org/officeDocument/2006/relationships" id="2147483651" r:id="R7c2f3f050ab649da"/>
    <p:sldLayoutId xmlns:r="http://schemas.openxmlformats.org/officeDocument/2006/relationships" id="2147483652" r:id="Ra9ab006c28b34909"/>
    <p:sldLayoutId xmlns:r="http://schemas.openxmlformats.org/officeDocument/2006/relationships" id="2147483653" r:id="R95ce817e4a4a40c2"/>
    <p:sldLayoutId xmlns:r="http://schemas.openxmlformats.org/officeDocument/2006/relationships" id="2147483654" r:id="R1c9f6b0d8676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c83e1a8194034" /><Relationship Type="http://schemas.openxmlformats.org/officeDocument/2006/relationships/notesSlide" Target="/ppt/notesSlides/notesSlide1.xml" Id="Rd245891230ff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b4cf50a72463b" /><Relationship Type="http://schemas.openxmlformats.org/officeDocument/2006/relationships/notesSlide" Target="/ppt/notesSlides/notesSlide2.xml" Id="R9499b08672764f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94b21d0c141c0" /><Relationship Type="http://schemas.openxmlformats.org/officeDocument/2006/relationships/notesSlide" Target="/ppt/notesSlides/notesSlide3.xml" Id="Rca03919952e241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6f4e8d5b84c0f" /><Relationship Type="http://schemas.openxmlformats.org/officeDocument/2006/relationships/notesSlide" Target="/ppt/notesSlides/notesSlide4.xml" Id="R58eeb06ce004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3bfcee23a440e" /><Relationship Type="http://schemas.openxmlformats.org/officeDocument/2006/relationships/notesSlide" Target="/ppt/notesSlides/notesSlide5.xml" Id="R7d393d93c09845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76c33b9944ac2" /><Relationship Type="http://schemas.openxmlformats.org/officeDocument/2006/relationships/notesSlide" Target="/ppt/notesSlides/notesSlide6.xml" Id="R32a0aa3a8102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407c5844f49c9" /><Relationship Type="http://schemas.openxmlformats.org/officeDocument/2006/relationships/notesSlide" Target="/ppt/notesSlides/notesSlide7.xml" Id="R98809130485d46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967b5f4874e5f" /><Relationship Type="http://schemas.openxmlformats.org/officeDocument/2006/relationships/notesSlide" Target="/ppt/notesSlides/notesSlide8.xml" Id="R6a917358ee0c4a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27bcac8264a21" /><Relationship Type="http://schemas.openxmlformats.org/officeDocument/2006/relationships/notesSlide" Target="/ppt/notesSlides/notesSlide9.xml" Id="Rceefcc5c9d5e42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8c6abe84648a9" /><Relationship Type="http://schemas.openxmlformats.org/officeDocument/2006/relationships/notesSlide" Target="/ppt/notesSlides/notesSlide10.xml" Id="R81943aaf8edd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f415d597245ce" /><Relationship Type="http://schemas.openxmlformats.org/officeDocument/2006/relationships/notesSlide" Target="/ppt/notesSlides/notesSlide11.xml" Id="Ra9979f6568dc4d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74ec7f69e45a8" /><Relationship Type="http://schemas.openxmlformats.org/officeDocument/2006/relationships/notesSlide" Target="/ppt/notesSlides/notesSlide12.xml" Id="Rd18c30cf1f334a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3afd5a58c426c" /><Relationship Type="http://schemas.openxmlformats.org/officeDocument/2006/relationships/notesSlide" Target="/ppt/notesSlides/notesSlide13.xml" Id="R3c0907d6d4e746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21a56bda4464b" /><Relationship Type="http://schemas.openxmlformats.org/officeDocument/2006/relationships/notesSlide" Target="/ppt/notesSlides/notesSlide14.xml" Id="Re655e1c5956f4c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916624ec54d65" /><Relationship Type="http://schemas.openxmlformats.org/officeDocument/2006/relationships/notesSlide" Target="/ppt/notesSlides/notesSlide15.xml" Id="R7c72777b2d624e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6-78-ЗАЩИТА ПРОЕКТА · 15 ОКТЯБРЯ ">
            <a:extLst xmlns:a="http://schemas.openxmlformats.org/drawingml/2006/main">
              <a:ext uri="{FF2B5EF4-FFF2-40B4-BE49-F238E27FC236}">
                <a16:creationId xmlns:a16="http://schemas.microsoft.com/office/drawing/2014/main" id="{C2903703-5B14-4324-922B-3F9A264B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CORETEAMS · ЗАЩИТА СПРИНТА 2</a:t>
            </a:r>
          </a:p>
        </p:txBody>
      </p:sp>
      <p:sp>
        <p:nvSpPr>
          <p:cNvPr id="2" name="text-70-146-CoreTeams">
            <a:extLst xmlns:a="http://schemas.openxmlformats.org/drawingml/2006/main">
              <a:ext uri="{FF2B5EF4-FFF2-40B4-BE49-F238E27FC236}">
                <a16:creationId xmlns:a16="http://schemas.microsoft.com/office/drawing/2014/main" id="{1F2B7299-8D27-4896-84CD-41BC5B4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904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CoreTeams</a:t>
            </a:r>
          </a:p>
        </p:txBody>
      </p:sp>
      <p:sp>
        <p:nvSpPr>
          <p:cNvPr id="3" name="text-72-292-Проверяемый аналитический бр">
            <a:extLst xmlns:a="http://schemas.openxmlformats.org/drawingml/2006/main">
              <a:ext uri="{FF2B5EF4-FFF2-40B4-BE49-F238E27FC236}">
                <a16:creationId xmlns:a16="http://schemas.microsoft.com/office/drawing/2014/main" id="{43AED5AF-E292-4E92-B0E4-6EC5B586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Рабочее пространство с AI-командой для сложных задач вне одной экспертизы</a:t>
            </a:r>
          </a:p>
        </p:txBody>
      </p:sp>
      <p:sp>
        <p:nvSpPr>
          <p:cNvPr id="4" name="text-76-588-Черновик по доступным матери">
            <a:extLst xmlns:a="http://schemas.openxmlformats.org/drawingml/2006/main">
              <a:ext uri="{FF2B5EF4-FFF2-40B4-BE49-F238E27FC236}">
                <a16:creationId xmlns:a16="http://schemas.microsoft.com/office/drawing/2014/main" id="{C9F3A684-0FE5-4DC4-BC97-3473669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Черновик по доступным материалам. Пользовательские результаты ещё не получены.</a:t>
            </a:r>
          </a:p>
        </p:txBody>
      </p:sp>
    </p:spTree>
    <p:extLst>
      <p:ext uri="{BB962C8B-B14F-4D97-AF65-F5344CB8AC3E}">
        <p14:creationId xmlns:p14="http://schemas.microsoft.com/office/powerpoint/2010/main" val="1713356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02 · ПРОБЛЕМА">
            <a:extLst xmlns:a="http://schemas.openxmlformats.org/drawingml/2006/main">
              <a:ext uri="{FF2B5EF4-FFF2-40B4-BE49-F238E27FC236}">
                <a16:creationId xmlns:a16="http://schemas.microsoft.com/office/drawing/2014/main" id="{5987DC94-A33B-44D4-A723-1193FC3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02 · ПРОБЛЕМА</a:t>
            </a:r>
          </a:p>
        </p:txBody>
      </p:sp>
      <p:sp>
        <p:nvSpPr>
          <p:cNvPr id="2" name="text-78-95-Самостоятельный владелец сам">
            <a:extLst xmlns:a="http://schemas.openxmlformats.org/drawingml/2006/main">
              <a:ext uri="{FF2B5EF4-FFF2-40B4-BE49-F238E27FC236}">
                <a16:creationId xmlns:a16="http://schemas.microsoft.com/office/drawing/2014/main" id="{43882611-2E62-4988-8868-896D821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Самостоятельный владелец сам собирает решение в незнакомой области</a:t>
            </a:r>
          </a:p>
        </p:txBody>
      </p:sp>
      <p:sp>
        <p:nvSpPr>
          <p:cNvPr id="3" name="text-82-238-Найти материалы мало">
            <a:extLst xmlns:a="http://schemas.openxmlformats.org/drawingml/2006/main">
              <a:ext uri="{FF2B5EF4-FFF2-40B4-BE49-F238E27FC236}">
                <a16:creationId xmlns:a16="http://schemas.microsoft.com/office/drawing/2014/main" id="{886B62FA-BB22-4758-BC9E-CAB70CE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Найти материалы мало</a:t>
            </a:r>
          </a:p>
        </p:txBody>
      </p:sp>
      <p:sp>
        <p:nvSpPr>
          <p:cNvPr id="4" name="text-82-308-Нужно понять, какие источник">
            <a:extLst xmlns:a="http://schemas.openxmlformats.org/drawingml/2006/main">
              <a:ext uri="{FF2B5EF4-FFF2-40B4-BE49-F238E27FC236}">
                <a16:creationId xmlns:a16="http://schemas.microsoft.com/office/drawing/2014/main" id="{F5E317B0-D51E-4A9C-A1E7-26362FB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Нужно понять, какие источники заслуживают доверия и где они расходятся.</a:t>
            </a:r>
          </a:p>
        </p:txBody>
      </p:sp>
      <p:sp>
        <p:nvSpPr>
          <p:cNvPr id="5" name="text-690-238-Проверка отнимает время">
            <a:extLst xmlns:a="http://schemas.openxmlformats.org/drawingml/2006/main">
              <a:ext uri="{FF2B5EF4-FFF2-40B4-BE49-F238E27FC236}">
                <a16:creationId xmlns:a16="http://schemas.microsoft.com/office/drawing/2014/main" id="{FF53790B-DE96-46BD-BD08-D5535179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отнимает время</a:t>
            </a:r>
          </a:p>
        </p:txBody>
      </p:sp>
      <p:sp>
        <p:nvSpPr>
          <p:cNvPr id="6" name="text-690-308-Без своей команды владелец п">
            <a:extLst xmlns:a="http://schemas.openxmlformats.org/drawingml/2006/main">
              <a:ext uri="{FF2B5EF4-FFF2-40B4-BE49-F238E27FC236}">
                <a16:creationId xmlns:a16="http://schemas.microsoft.com/office/drawing/2014/main" id="{F28BC83E-0B23-45AB-B114-FBBDD132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Без своей команды владелец перепроверяет выводы и снова собирает документ.</a:t>
            </a:r>
          </a:p>
        </p:txBody>
      </p:sp>
      <p:sp>
        <p:nvSpPr>
          <p:cNvPr id="7" name="text-82-565-Наблюдение из анкеты R02. Од">
            <a:extLst xmlns:a="http://schemas.openxmlformats.org/drawingml/2006/main">
              <a:ext uri="{FF2B5EF4-FFF2-40B4-BE49-F238E27FC236}">
                <a16:creationId xmlns:a16="http://schemas.microsoft.com/office/drawing/2014/main" id="{6260A655-1F05-4FDF-B370-33841E2C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Наблюдение из анкеты R02. Один ответ описывает контекст, не частоту проблемы на рынке.</a:t>
            </a:r>
          </a:p>
        </p:txBody>
      </p:sp>
      <p:sp>
        <p:nvSpPr>
          <p:cNvPr id="8" name="text-1150-668-02">
            <a:extLst xmlns:a="http://schemas.openxmlformats.org/drawingml/2006/main">
              <a:ext uri="{FF2B5EF4-FFF2-40B4-BE49-F238E27FC236}">
                <a16:creationId xmlns:a16="http://schemas.microsoft.com/office/drawing/2014/main" id="{FBED53C3-3ED4-4608-A71E-52A26C8A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0350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3 · ТЕКУЩИЙ СПОСОБ">
            <a:extLst xmlns:a="http://schemas.openxmlformats.org/drawingml/2006/main">
              <a:ext uri="{FF2B5EF4-FFF2-40B4-BE49-F238E27FC236}">
                <a16:creationId xmlns:a16="http://schemas.microsoft.com/office/drawing/2014/main" id="{16F94CD0-4BA6-4176-8D36-BF19AAE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03 · ТЕКУЩИЙ СПОСОБ</a:t>
            </a:r>
          </a:p>
        </p:txBody>
      </p:sp>
      <p:sp>
        <p:nvSpPr>
          <p:cNvPr id="2" name="text-78-95-Сейчас R02 совмещает поиск, ">
            <a:extLst xmlns:a="http://schemas.openxmlformats.org/drawingml/2006/main">
              <a:ext uri="{FF2B5EF4-FFF2-40B4-BE49-F238E27FC236}">
                <a16:creationId xmlns:a16="http://schemas.microsoft.com/office/drawing/2014/main" id="{FB50447F-505A-4E0F-809C-5DDC8AA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Сейчас R02 совмещает поиск, AI и помощь подрядчика</a:t>
            </a:r>
          </a:p>
        </p:txBody>
      </p:sp>
      <p:sp>
        <p:nvSpPr>
          <p:cNvPr id="3" name="text-78-238-Поиск в сети">
            <a:extLst xmlns:a="http://schemas.openxmlformats.org/drawingml/2006/main">
              <a:ext uri="{FF2B5EF4-FFF2-40B4-BE49-F238E27FC236}">
                <a16:creationId xmlns:a16="http://schemas.microsoft.com/office/drawing/2014/main" id="{BBE9AF49-BB08-4BFD-AF6A-56A2AE7A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в сети</a:t>
            </a:r>
          </a:p>
        </p:txBody>
      </p:sp>
      <p:sp>
        <p:nvSpPr>
          <p:cNvPr id="4" name="text-78-304-Собрать материалы по задаче">
            <a:extLst xmlns:a="http://schemas.openxmlformats.org/drawingml/2006/main">
              <a:ext uri="{FF2B5EF4-FFF2-40B4-BE49-F238E27FC236}">
                <a16:creationId xmlns:a16="http://schemas.microsoft.com/office/drawing/2014/main" id="{EBFA8005-3B9A-4A5B-95D8-6022BF9F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Собрать материалы по задаче</a:t>
            </a:r>
          </a:p>
        </p:txBody>
      </p:sp>
      <p:sp>
        <p:nvSpPr>
          <p:cNvPr id="5" name="text-442-238-AI и 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9E7B27E2-1955-4850-B20D-F83E324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и специалист</a:t>
            </a:r>
          </a:p>
        </p:txBody>
      </p:sp>
      <p:sp>
        <p:nvSpPr>
          <p:cNvPr id="6" name="text-442-304-Получить помощь и сопоставит">
            <a:extLst xmlns:a="http://schemas.openxmlformats.org/drawingml/2006/main">
              <a:ext uri="{FF2B5EF4-FFF2-40B4-BE49-F238E27FC236}">
                <a16:creationId xmlns:a16="http://schemas.microsoft.com/office/drawing/2014/main" id="{39CA106C-04BC-4DFA-842F-6FF3608E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Получить помощь и сопоставить ответы</a:t>
            </a:r>
          </a:p>
        </p:txBody>
      </p:sp>
      <p:sp>
        <p:nvSpPr>
          <p:cNvPr id="7" name="text-850-238-Повторная сверка">
            <a:extLst xmlns:a="http://schemas.openxmlformats.org/drawingml/2006/main">
              <a:ext uri="{FF2B5EF4-FFF2-40B4-BE49-F238E27FC236}">
                <a16:creationId xmlns:a16="http://schemas.microsoft.com/office/drawing/2014/main" id="{DB9BA32C-797E-440B-BD75-E7111F57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Повторная сверка</a:t>
            </a:r>
          </a:p>
        </p:txBody>
      </p:sp>
      <p:sp>
        <p:nvSpPr>
          <p:cNvPr id="8" name="text-850-304-Свести результат в документ ">
            <a:extLst xmlns:a="http://schemas.openxmlformats.org/drawingml/2006/main">
              <a:ext uri="{FF2B5EF4-FFF2-40B4-BE49-F238E27FC236}">
                <a16:creationId xmlns:a16="http://schemas.microsoft.com/office/drawing/2014/main" id="{06B87EDB-A7C0-424F-BA9C-78F8DF8D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Свести результат в документ со ссылками</a:t>
            </a:r>
          </a:p>
        </p:txBody>
      </p:sp>
      <p:sp>
        <p:nvSpPr>
          <p:cNvPr id="9" name="text-78-560-Так респондент описал нескол">
            <a:extLst xmlns:a="http://schemas.openxmlformats.org/drawingml/2006/main">
              <a:ext uri="{FF2B5EF4-FFF2-40B4-BE49-F238E27FC236}">
                <a16:creationId xmlns:a16="http://schemas.microsoft.com/office/drawing/2014/main" id="{61F5E5C5-ECD2-4ACE-9C8F-8FF7D61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Так респондент описал несколько разных задач. Длительность из анкеты нельзя считать базовой скоростью одной задачи.</a:t>
            </a:r>
          </a:p>
        </p:txBody>
      </p:sp>
      <p:sp>
        <p:nvSpPr>
          <p:cNvPr id="10" name="text-1150-668-03">
            <a:extLst xmlns:a="http://schemas.openxmlformats.org/drawingml/2006/main">
              <a:ext uri="{FF2B5EF4-FFF2-40B4-BE49-F238E27FC236}">
                <a16:creationId xmlns:a16="http://schemas.microsoft.com/office/drawing/2014/main" id="{D176E2D5-BDD3-46B7-96F8-7E23B823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6971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04 · ПРОТОПЕРСОНА">
            <a:extLst xmlns:a="http://schemas.openxmlformats.org/drawingml/2006/main">
              <a:ext uri="{FF2B5EF4-FFF2-40B4-BE49-F238E27FC236}">
                <a16:creationId xmlns:a16="http://schemas.microsoft.com/office/drawing/2014/main" id="{60F8E136-CF80-45F9-87D3-F858F0CF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04 · ПРОТОПЕРСОНА</a:t>
            </a:r>
          </a:p>
        </p:txBody>
      </p:sp>
      <p:sp>
        <p:nvSpPr>
          <p:cNvPr id="2" name="text-78-95-Восемь ответов дали один пре">
            <a:extLst xmlns:a="http://schemas.openxmlformats.org/drawingml/2006/main">
              <a:ext uri="{FF2B5EF4-FFF2-40B4-BE49-F238E27FC236}">
                <a16:creationId xmlns:a16="http://schemas.microsoft.com/office/drawing/2014/main" id="{858F2183-4266-48F4-B967-E5233BA9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Восемь ответов дали один предварительный профиль целевой аудитории</a:t>
            </a:r>
          </a:p>
        </p:txBody>
      </p:sp>
      <p:sp>
        <p:nvSpPr>
          <p:cNvPr id="3" name="text-78-220-R02">
            <a:extLst xmlns:a="http://schemas.openxmlformats.org/drawingml/2006/main">
              <a:ext uri="{FF2B5EF4-FFF2-40B4-BE49-F238E27FC236}">
                <a16:creationId xmlns:a16="http://schemas.microsoft.com/office/drawing/2014/main" id="{DF8CA3BD-C044-4EA8-A5CD-C44EEAC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6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66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R02</a:t>
            </a:r>
          </a:p>
        </p:txBody>
      </p:sp>
      <p:sp>
        <p:nvSpPr>
          <p:cNvPr id="4" name="text-80-340-Самостоятельный владелец / о">
            <a:extLst xmlns:a="http://schemas.openxmlformats.org/drawingml/2006/main">
              <a:ext uri="{FF2B5EF4-FFF2-40B4-BE49-F238E27FC236}">
                <a16:creationId xmlns:a16="http://schemas.microsoft.com/office/drawing/2014/main" id="{C5C914E3-0529-40E7-AE4E-CD7DC423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Самостоятельный владелец / основатель. Есть проектная задача вне экспертизы и запрос на документы с источниками.</a:t>
            </a:r>
          </a:p>
        </p:txBody>
      </p:sp>
      <p:sp>
        <p:nvSpPr>
          <p:cNvPr id="5" name="text-700-242-Остальные ответы">
            <a:extLst xmlns:a="http://schemas.openxmlformats.org/drawingml/2006/main">
              <a:ext uri="{FF2B5EF4-FFF2-40B4-BE49-F238E27FC236}">
                <a16:creationId xmlns:a16="http://schemas.microsoft.com/office/drawing/2014/main" id="{00E58FF2-97C1-4378-AB6D-63808FA2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Остальные ответы</a:t>
            </a:r>
          </a:p>
        </p:txBody>
      </p:sp>
      <p:sp>
        <p:nvSpPr>
          <p:cNvPr id="6" name="text-700-312-R03, R05 и R08 можно рассмат">
            <a:extLst xmlns:a="http://schemas.openxmlformats.org/drawingml/2006/main">
              <a:ext uri="{FF2B5EF4-FFF2-40B4-BE49-F238E27FC236}">
                <a16:creationId xmlns:a16="http://schemas.microsoft.com/office/drawing/2014/main" id="{F3C8EE73-B402-47E4-81CD-72A007B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28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R03, R05 и R08 можно рассматривать как контрольные случаи после отдельной проверки критериев.</a:t>
            </a:r>
          </a:p>
        </p:txBody>
      </p:sp>
      <p:sp>
        <p:nvSpPr>
          <p:cNvPr id="7" name="text-80-568-Контакта для R02 нет. Готовн">
            <a:extLst xmlns:a="http://schemas.openxmlformats.org/drawingml/2006/main">
              <a:ext uri="{FF2B5EF4-FFF2-40B4-BE49-F238E27FC236}">
                <a16:creationId xmlns:a16="http://schemas.microsoft.com/office/drawing/2014/main" id="{6252F5A7-3F22-4D30-920C-BFE3C144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Контакта для R02 нет. Готовность и согласие на сессию не получены.</a:t>
            </a:r>
          </a:p>
        </p:txBody>
      </p:sp>
      <p:sp>
        <p:nvSpPr>
          <p:cNvPr id="8" name="text-1150-668-04">
            <a:extLst xmlns:a="http://schemas.openxmlformats.org/drawingml/2006/main">
              <a:ext uri="{FF2B5EF4-FFF2-40B4-BE49-F238E27FC236}">
                <a16:creationId xmlns:a16="http://schemas.microsoft.com/office/drawing/2014/main" id="{AB7C0511-DBB4-45FD-AC60-2CBCFEEF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8900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5 · ЗАДАЧИ ПОЛЬЗОВАТЕЛЯ">
            <a:extLst xmlns:a="http://schemas.openxmlformats.org/drawingml/2006/main">
              <a:ext uri="{FF2B5EF4-FFF2-40B4-BE49-F238E27FC236}">
                <a16:creationId xmlns:a16="http://schemas.microsoft.com/office/drawing/2014/main" id="{DA2A1731-1F98-4772-B8F2-38A3F48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05 · ЗАДАЧИ ПОЛЬЗОВАТЕЛЯ</a:t>
            </a:r>
          </a:p>
        </p:txBody>
      </p:sp>
      <p:sp>
        <p:nvSpPr>
          <p:cNvPr id="2" name="text-78-95-Три спринта проверяют задачи">
            <a:extLst xmlns:a="http://schemas.openxmlformats.org/drawingml/2006/main">
              <a:ext uri="{FF2B5EF4-FFF2-40B4-BE49-F238E27FC236}">
                <a16:creationId xmlns:a16="http://schemas.microsoft.com/office/drawing/2014/main" id="{4B9CCAE8-1E04-4F79-8C3E-A9C044C2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спринта проверяют задачи одного протосегмента</a:t>
            </a:r>
          </a:p>
        </p:txBody>
      </p:sp>
      <p:sp>
        <p:nvSpPr>
          <p:cNvPr id="3" name="text-78-224-01 · Решение вне экспертизы">
            <a:extLst xmlns:a="http://schemas.openxmlformats.org/drawingml/2006/main">
              <a:ext uri="{FF2B5EF4-FFF2-40B4-BE49-F238E27FC236}">
                <a16:creationId xmlns:a16="http://schemas.microsoft.com/office/drawing/2014/main" id="{79573E3C-8602-4E50-98A0-8FE3B24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· Решение вне экспертизы</a:t>
            </a:r>
          </a:p>
        </p:txBody>
      </p:sp>
      <p:sp>
        <p:nvSpPr>
          <p:cNvPr id="4" name="text-78-312-Понять, что подтверждают ист">
            <a:extLst xmlns:a="http://schemas.openxmlformats.org/drawingml/2006/main">
              <a:ext uri="{FF2B5EF4-FFF2-40B4-BE49-F238E27FC236}">
                <a16:creationId xmlns:a16="http://schemas.microsoft.com/office/drawing/2014/main" id="{E4BB0ABD-CD0A-4C2F-9DD3-4C139503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162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Понять, что подтверждают источники и какой шаг можно сделать дальше.</a:t>
            </a:r>
          </a:p>
        </p:txBody>
      </p:sp>
      <p:sp>
        <p:nvSpPr>
          <p:cNvPr id="5" name="text-470-224-02 · Рынок и позиционировани">
            <a:extLst xmlns:a="http://schemas.openxmlformats.org/drawingml/2006/main">
              <a:ext uri="{FF2B5EF4-FFF2-40B4-BE49-F238E27FC236}">
                <a16:creationId xmlns:a16="http://schemas.microsoft.com/office/drawing/2014/main" id="{9BA62A83-F3B3-46A0-A0E6-C431D6BF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· Рынок и позиционирование</a:t>
            </a:r>
          </a:p>
        </p:txBody>
      </p:sp>
      <p:sp>
        <p:nvSpPr>
          <p:cNvPr id="6" name="text-470-312-Сопоставить внешние данные с">
            <a:extLst xmlns:a="http://schemas.openxmlformats.org/drawingml/2006/main">
              <a:ext uri="{FF2B5EF4-FFF2-40B4-BE49-F238E27FC236}">
                <a16:creationId xmlns:a16="http://schemas.microsoft.com/office/drawing/2014/main" id="{91158099-A079-4888-B4B3-7566FAB0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Сопоставить внешние данные с допущениями и выбрать полевой тест.</a:t>
            </a:r>
          </a:p>
        </p:txBody>
      </p:sp>
      <p:sp>
        <p:nvSpPr>
          <p:cNvPr id="7" name="text-880-224-03 · Технический выбор">
            <a:extLst xmlns:a="http://schemas.openxmlformats.org/drawingml/2006/main">
              <a:ext uri="{FF2B5EF4-FFF2-40B4-BE49-F238E27FC236}">
                <a16:creationId xmlns:a16="http://schemas.microsoft.com/office/drawing/2014/main" id="{00B8BA18-3BC0-4929-B23A-08220CF3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· Технический выбор</a:t>
            </a:r>
          </a:p>
        </p:txBody>
      </p:sp>
      <p:sp>
        <p:nvSpPr>
          <p:cNvPr id="8" name="text-880-312-Сравнить подходы или поставщ">
            <a:extLst xmlns:a="http://schemas.openxmlformats.org/drawingml/2006/main">
              <a:ext uri="{FF2B5EF4-FFF2-40B4-BE49-F238E27FC236}">
                <a16:creationId xmlns:a16="http://schemas.microsoft.com/office/drawing/2014/main" id="{804AD82D-31E3-472E-87A1-20AD02E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312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Сравнить подходы или поставщиков до расходов и реализации.</a:t>
            </a:r>
          </a:p>
        </p:txBody>
      </p:sp>
      <p:sp>
        <p:nvSpPr>
          <p:cNvPr id="9" name="text-78-564-Это гипотезы последовательны">
            <a:extLst xmlns:a="http://schemas.openxmlformats.org/drawingml/2006/main">
              <a:ext uri="{FF2B5EF4-FFF2-40B4-BE49-F238E27FC236}">
                <a16:creationId xmlns:a16="http://schemas.microsoft.com/office/drawing/2014/main" id="{0C9A81EC-5587-4D2D-9F5C-08BF6315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Это гипотезы последовательных исследовательских спринтов, а не три подтверждённые персоны.</a:t>
            </a:r>
          </a:p>
        </p:txBody>
      </p:sp>
      <p:sp>
        <p:nvSpPr>
          <p:cNvPr id="10" name="text-1150-668-05">
            <a:extLst xmlns:a="http://schemas.openxmlformats.org/drawingml/2006/main">
              <a:ext uri="{FF2B5EF4-FFF2-40B4-BE49-F238E27FC236}">
                <a16:creationId xmlns:a16="http://schemas.microsoft.com/office/drawing/2014/main" id="{4EB15042-1934-4BDB-8258-5D61F885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4466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78-47-06 · ПРЕДЛАГАЕМОЕ РЕШЕНИЕ">
            <a:extLst xmlns:a="http://schemas.openxmlformats.org/drawingml/2006/main">
              <a:ext uri="{FF2B5EF4-FFF2-40B4-BE49-F238E27FC236}">
                <a16:creationId xmlns:a16="http://schemas.microsoft.com/office/drawing/2014/main" id="{47D9F6B7-BCF0-4775-9ABA-8E6D417C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06 · ПРЕДЛАГАЕМОЕ РЕШЕНИЕ</a:t>
            </a:r>
          </a:p>
        </p:txBody>
      </p:sp>
      <p:sp>
        <p:nvSpPr>
          <p:cNvPr id="2" name="text-78-95-Результат должен показывать ">
            <a:extLst xmlns:a="http://schemas.openxmlformats.org/drawingml/2006/main">
              <a:ext uri="{FF2B5EF4-FFF2-40B4-BE49-F238E27FC236}">
                <a16:creationId xmlns:a16="http://schemas.microsoft.com/office/drawing/2014/main" id="{2B2C8456-A79B-429E-A239-404979A0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 должен показывать вывод, источники и то, что осталось неизвестным</a:t>
            </a:r>
          </a:p>
        </p:txBody>
      </p:sp>
      <p:sp>
        <p:nvSpPr>
          <p:cNvPr id="3" name="text-78-238-Вход">
            <a:extLst xmlns:a="http://schemas.openxmlformats.org/drawingml/2006/main">
              <a:ext uri="{FF2B5EF4-FFF2-40B4-BE49-F238E27FC236}">
                <a16:creationId xmlns:a16="http://schemas.microsoft.com/office/drawing/2014/main" id="{7AECF9FE-A06E-4173-908E-DC25292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4" name="text-78-292-Одна реальная задача и решен">
            <a:extLst xmlns:a="http://schemas.openxmlformats.org/drawingml/2006/main">
              <a:ext uri="{FF2B5EF4-FFF2-40B4-BE49-F238E27FC236}">
                <a16:creationId xmlns:a16="http://schemas.microsoft.com/office/drawing/2014/main" id="{A832DB2D-CC88-4988-B69B-AA7FF0B1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Одна реальная задача и решение, которое предстоит принять</a:t>
            </a:r>
          </a:p>
        </p:txBody>
      </p:sp>
      <p:sp>
        <p:nvSpPr>
          <p:cNvPr id="5" name="text-395-238-Анализ">
            <a:extLst xmlns:a="http://schemas.openxmlformats.org/drawingml/2006/main">
              <a:ext uri="{FF2B5EF4-FFF2-40B4-BE49-F238E27FC236}">
                <a16:creationId xmlns:a16="http://schemas.microsoft.com/office/drawing/2014/main" id="{A34F49B6-EADE-4BC9-939C-5D8D080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6" name="text-395-292-Внешние источники, проверка ">
            <a:extLst xmlns:a="http://schemas.openxmlformats.org/drawingml/2006/main">
              <a:ext uri="{FF2B5EF4-FFF2-40B4-BE49-F238E27FC236}">
                <a16:creationId xmlns:a16="http://schemas.microsoft.com/office/drawing/2014/main" id="{16DA150F-2C22-4B9A-A2DC-839662D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813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Внешние источники, проверка расхождений и ограничения</a:t>
            </a:r>
          </a:p>
        </p:txBody>
      </p:sp>
      <p:sp>
        <p:nvSpPr>
          <p:cNvPr id="7" name="text-735-238-Результат">
            <a:extLst xmlns:a="http://schemas.openxmlformats.org/drawingml/2006/main">
              <a:ext uri="{FF2B5EF4-FFF2-40B4-BE49-F238E27FC236}">
                <a16:creationId xmlns:a16="http://schemas.microsoft.com/office/drawing/2014/main" id="{3392C446-78CC-4E4A-8B1B-B8A7B110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8" name="text-735-292-Краткий decision brief с вар">
            <a:extLst xmlns:a="http://schemas.openxmlformats.org/drawingml/2006/main">
              <a:ext uri="{FF2B5EF4-FFF2-40B4-BE49-F238E27FC236}">
                <a16:creationId xmlns:a16="http://schemas.microsoft.com/office/drawing/2014/main" id="{AEB427C5-B5FA-484E-B179-E31D0B59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Краткий decision brief с вариантами следующего шага</a:t>
            </a:r>
          </a:p>
        </p:txBody>
      </p:sp>
      <p:sp>
        <p:nvSpPr>
          <p:cNvPr id="9" name="text-1030-238-Передача">
            <a:extLst xmlns:a="http://schemas.openxmlformats.org/drawingml/2006/main">
              <a:ext uri="{FF2B5EF4-FFF2-40B4-BE49-F238E27FC236}">
                <a16:creationId xmlns:a16="http://schemas.microsoft.com/office/drawing/2014/main" id="{8BB7245F-7FCD-4185-B023-C3308BAD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Передача</a:t>
            </a:r>
          </a:p>
        </p:txBody>
      </p:sp>
      <p:sp>
        <p:nvSpPr>
          <p:cNvPr id="10" name="text-1030-292-ZIP: result.md, sources.csv ">
            <a:extLst xmlns:a="http://schemas.openxmlformats.org/drawingml/2006/main">
              <a:ext uri="{FF2B5EF4-FFF2-40B4-BE49-F238E27FC236}">
                <a16:creationId xmlns:a16="http://schemas.microsoft.com/office/drawing/2014/main" id="{7263E1B9-A6D1-4BB4-B462-79F0385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847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ZIP: result.md, sources.csv и metadata.json</a:t>
            </a:r>
          </a:p>
        </p:txBody>
      </p:sp>
      <p:sp>
        <p:nvSpPr>
          <p:cNvPr id="11" name="text-78-564-Это целевой контракт первого">
            <a:extLst xmlns:a="http://schemas.openxmlformats.org/drawingml/2006/main">
              <a:ext uri="{FF2B5EF4-FFF2-40B4-BE49-F238E27FC236}">
                <a16:creationId xmlns:a16="http://schemas.microsoft.com/office/drawing/2014/main" id="{C0B2748E-ED5E-4FBC-9A87-174E9B9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Это целевой контракт первого результата, а не подтверждение работающей интеграции.</a:t>
            </a:r>
          </a:p>
        </p:txBody>
      </p:sp>
      <p:sp>
        <p:nvSpPr>
          <p:cNvPr id="12" name="text-1150-668-06">
            <a:extLst xmlns:a="http://schemas.openxmlformats.org/drawingml/2006/main">
              <a:ext uri="{FF2B5EF4-FFF2-40B4-BE49-F238E27FC236}">
                <a16:creationId xmlns:a16="http://schemas.microsoft.com/office/drawing/2014/main" id="{35FAAE29-A91C-46CF-A25B-85CEFB1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4383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07 · ПРЕДЫДУЩИЕ РЕЗУЛЬТАТЫ">
            <a:extLst xmlns:a="http://schemas.openxmlformats.org/drawingml/2006/main">
              <a:ext uri="{FF2B5EF4-FFF2-40B4-BE49-F238E27FC236}">
                <a16:creationId xmlns:a16="http://schemas.microsoft.com/office/drawing/2014/main" id="{D7638C05-6F0A-48F3-98F8-21513DEF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07 · ПРЕДЫДУЩИЕ РЕЗУЛЬТАТЫ</a:t>
            </a:r>
          </a:p>
        </p:txBody>
      </p:sp>
      <p:sp>
        <p:nvSpPr>
          <p:cNvPr id="2" name="text-78-95-До пользовательского прогона">
            <a:extLst xmlns:a="http://schemas.openxmlformats.org/drawingml/2006/main">
              <a:ext uri="{FF2B5EF4-FFF2-40B4-BE49-F238E27FC236}">
                <a16:creationId xmlns:a16="http://schemas.microsoft.com/office/drawing/2014/main" id="{E8F2A4E1-CC8B-4D68-BFCF-FE59E37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пользовательского прогона у нас есть только анкета и план проверки</a:t>
            </a:r>
          </a:p>
        </p:txBody>
      </p:sp>
      <p:sp>
        <p:nvSpPr>
          <p:cNvPr id="3" name="text-80-238-Есть">
            <a:extLst xmlns:a="http://schemas.openxmlformats.org/drawingml/2006/main">
              <a:ext uri="{FF2B5EF4-FFF2-40B4-BE49-F238E27FC236}">
                <a16:creationId xmlns:a16="http://schemas.microsoft.com/office/drawing/2014/main" id="{BE217670-92DB-4D59-9C19-91B53B15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Есть</a:t>
            </a:r>
          </a:p>
        </p:txBody>
      </p:sp>
      <p:sp>
        <p:nvSpPr>
          <p:cNvPr id="4" name="text-80-304-8 ответов формы&#10;1 предварите">
            <a:extLst xmlns:a="http://schemas.openxmlformats.org/drawingml/2006/main">
              <a:ext uri="{FF2B5EF4-FFF2-40B4-BE49-F238E27FC236}">
                <a16:creationId xmlns:a16="http://schemas.microsoft.com/office/drawing/2014/main" id="{29E49752-3F77-46F0-948F-6D968907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4191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8 ответов формы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1 предварительный fit (R02)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описание baseline и ZIP-контракта</a:t>
            </a:r>
          </a:p>
        </p:txBody>
      </p:sp>
      <p:sp>
        <p:nvSpPr>
          <p:cNvPr id="5" name="text-700-238-Ещё нет">
            <a:extLst xmlns:a="http://schemas.openxmlformats.org/drawingml/2006/main">
              <a:ext uri="{FF2B5EF4-FFF2-40B4-BE49-F238E27FC236}">
                <a16:creationId xmlns:a16="http://schemas.microsoft.com/office/drawing/2014/main" id="{BC6DBF82-D6F2-46AF-9B75-46C35D9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Ещё нет</a:t>
            </a:r>
          </a:p>
        </p:txBody>
      </p:sp>
      <p:sp>
        <p:nvSpPr>
          <p:cNvPr id="6" name="text-700-304-согласованного участника&#10;bas">
            <a:extLst xmlns:a="http://schemas.openxmlformats.org/drawingml/2006/main">
              <a:ext uri="{FF2B5EF4-FFF2-40B4-BE49-F238E27FC236}">
                <a16:creationId xmlns:a16="http://schemas.microsoft.com/office/drawing/2014/main" id="{F1584123-0042-4E21-9611-8BA20CD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476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согласованного участника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baseline конкретной задачи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пилотного результата или замеров</a:t>
            </a:r>
          </a:p>
        </p:txBody>
      </p:sp>
      <p:sp>
        <p:nvSpPr>
          <p:cNvPr id="7" name="text-80-566-Скорость, качество и экономи">
            <a:extLst xmlns:a="http://schemas.openxmlformats.org/drawingml/2006/main">
              <a:ext uri="{FF2B5EF4-FFF2-40B4-BE49-F238E27FC236}">
                <a16:creationId xmlns:a16="http://schemas.microsoft.com/office/drawing/2014/main" id="{59587FFB-90FE-473B-90B3-502C5099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Скорость, качество и экономия времени не заявляются.</a:t>
            </a:r>
          </a:p>
        </p:txBody>
      </p:sp>
      <p:sp>
        <p:nvSpPr>
          <p:cNvPr id="8" name="text-1150-668-07">
            <a:extLst xmlns:a="http://schemas.openxmlformats.org/drawingml/2006/main">
              <a:ext uri="{FF2B5EF4-FFF2-40B4-BE49-F238E27FC236}">
                <a16:creationId xmlns:a16="http://schemas.microsoft.com/office/drawing/2014/main" id="{F5DCE4FD-0F1F-447B-B40F-E94A24D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4846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8 · ТЕКУЩ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A3E64B35-29BE-45F8-AA5A-0FA9C0E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08 · ТЕКУЩАЯ ПРОВЕРКА</a:t>
            </a:r>
          </a:p>
        </p:txBody>
      </p:sp>
      <p:sp>
        <p:nvSpPr>
          <p:cNvPr id="2" name="text-78-95-В этом спринте проверяем пол">
            <a:extLst xmlns:a="http://schemas.openxmlformats.org/drawingml/2006/main">
              <a:ext uri="{FF2B5EF4-FFF2-40B4-BE49-F238E27FC236}">
                <a16:creationId xmlns:a16="http://schemas.microsoft.com/office/drawing/2014/main" id="{DB76FD92-173C-41FB-B979-97DDDD8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этом спринте проверяем путь пользователя</a:t>
            </a:r>
          </a:p>
        </p:txBody>
      </p:sp>
      <p:sp>
        <p:nvSpPr>
          <p:cNvPr id="3" name="text-78-216-Продуктовая гипотеза">
            <a:extLst xmlns:a="http://schemas.openxmlformats.org/drawingml/2006/main">
              <a:ext uri="{FF2B5EF4-FFF2-40B4-BE49-F238E27FC236}">
                <a16:creationId xmlns:a16="http://schemas.microsoft.com/office/drawing/2014/main" id="{F1E85D21-8C84-455A-8CCB-63D00C82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Понятность пути</a:t>
            </a:r>
          </a:p>
        </p:txBody>
      </p:sp>
      <p:sp>
        <p:nvSpPr>
          <p:cNvPr id="4" name="text-78-278-Помогают ли источники, расхо">
            <a:extLst xmlns:a="http://schemas.openxmlformats.org/drawingml/2006/main">
              <a:ext uri="{FF2B5EF4-FFF2-40B4-BE49-F238E27FC236}">
                <a16:creationId xmlns:a16="http://schemas.microsoft.com/office/drawing/2014/main" id="{0F5A9D51-AAD7-4F15-A891-DBC2E3F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Понимает ли человек, как поставить задачу, ответить на уточнение и получить результат?</a:t>
            </a:r>
          </a:p>
        </p:txBody>
      </p:sp>
      <p:sp>
        <p:nvSpPr>
          <p:cNvPr id="5" name="text-470-216-Исследование">
            <a:extLst xmlns:a="http://schemas.openxmlformats.org/drawingml/2006/main">
              <a:ext uri="{FF2B5EF4-FFF2-40B4-BE49-F238E27FC236}">
                <a16:creationId xmlns:a16="http://schemas.microsoft.com/office/drawing/2014/main" id="{290BAC15-EAB6-4FC1-BA09-ECBDADA1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Проверка с пользователем</a:t>
            </a:r>
          </a:p>
        </p:txBody>
      </p:sp>
      <p:sp>
        <p:nvSpPr>
          <p:cNvPr id="6" name="text-470-278-Найти подходящего владельца,">
            <a:extLst xmlns:a="http://schemas.openxmlformats.org/drawingml/2006/main">
              <a:ext uri="{FF2B5EF4-FFF2-40B4-BE49-F238E27FC236}">
                <a16:creationId xmlns:a16="http://schemas.microsoft.com/office/drawing/2014/main" id="{A84D4BA7-10EF-40FD-B978-A5673EF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Наблюдаем шаги, затруднения и помощь. Сравниваем с baseline. Пока NOT_RUN.</a:t>
            </a:r>
          </a:p>
        </p:txBody>
      </p:sp>
      <p:sp>
        <p:nvSpPr>
          <p:cNvPr id="7" name="text-865-216-Техническая гипотеза">
            <a:extLst xmlns:a="http://schemas.openxmlformats.org/drawingml/2006/main">
              <a:ext uri="{FF2B5EF4-FFF2-40B4-BE49-F238E27FC236}">
                <a16:creationId xmlns:a16="http://schemas.microsoft.com/office/drawing/2014/main" id="{2CDA22DC-BCA0-41C1-8DCD-523B26D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574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Готовность сервиса</a:t>
            </a:r>
          </a:p>
        </p:txBody>
      </p:sp>
      <p:sp>
        <p:nvSpPr>
          <p:cNvPr id="8" name="text-865-278-Путь от задачи до ZIP должен">
            <a:extLst xmlns:a="http://schemas.openxmlformats.org/drawingml/2006/main">
              <a:ext uri="{FF2B5EF4-FFF2-40B4-BE49-F238E27FC236}">
                <a16:creationId xmlns:a16="http://schemas.microsoft.com/office/drawing/2014/main" id="{D1EE8CDE-076B-4FE8-86F0-471C4DE9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3257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Запуск CTF, сохранение, ZIP и повторное открытие. Серверный путь пока не подтверждён.</a:t>
            </a:r>
          </a:p>
        </p:txBody>
      </p:sp>
      <p:sp>
        <p:nvSpPr>
          <p:cNvPr id="9" name="text-78-570-Frontend готовность отдельно">
            <a:extLst xmlns:a="http://schemas.openxmlformats.org/drawingml/2006/main">
              <a:ext uri="{FF2B5EF4-FFF2-40B4-BE49-F238E27FC236}">
                <a16:creationId xmlns:a16="http://schemas.microsoft.com/office/drawing/2014/main" id="{AD3E23D6-7464-4C11-A675-6302D6D6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В спринте используем аналитический бриф. Пользовательские замеры ещё не проведены.</a:t>
            </a:r>
          </a:p>
        </p:txBody>
      </p:sp>
      <p:sp>
        <p:nvSpPr>
          <p:cNvPr id="10" name="text-1150-668-08">
            <a:extLst xmlns:a="http://schemas.openxmlformats.org/drawingml/2006/main">
              <a:ext uri="{FF2B5EF4-FFF2-40B4-BE49-F238E27FC236}">
                <a16:creationId xmlns:a16="http://schemas.microsoft.com/office/drawing/2014/main" id="{9A4D3264-9D1A-4062-8E2E-27508E8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6348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09 · ДЕМО ПЕРВОЙ ПРОТОПЕРСОН">
            <a:extLst xmlns:a="http://schemas.openxmlformats.org/drawingml/2006/main">
              <a:ext uri="{FF2B5EF4-FFF2-40B4-BE49-F238E27FC236}">
                <a16:creationId xmlns:a16="http://schemas.microsoft.com/office/drawing/2014/main" id="{C0B40E44-A67E-4C84-A748-3BD4CECA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09 · ДЕМО ПЕРВОЙ ПРОТОПЕРСОНЫ</a:t>
            </a:r>
          </a:p>
        </p:txBody>
      </p:sp>
      <p:sp>
        <p:nvSpPr>
          <p:cNvPr id="2" name="text-78-95-Демо покажем после проверки ">
            <a:extLst xmlns:a="http://schemas.openxmlformats.org/drawingml/2006/main">
              <a:ext uri="{FF2B5EF4-FFF2-40B4-BE49-F238E27FC236}">
                <a16:creationId xmlns:a16="http://schemas.microsoft.com/office/drawing/2014/main" id="{4CC83F2F-1311-4419-80C0-B119D342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Путь пользователя в CoreTeams</a:t>
            </a:r>
          </a:p>
        </p:txBody>
      </p:sp>
      <p:sp>
        <p:nvSpPr>
          <p:cNvPr id="3" name="text-78-196-Сценарий будущего демо">
            <a:extLst xmlns:a="http://schemas.openxmlformats.org/drawingml/2006/main">
              <a:ext uri="{FF2B5EF4-FFF2-40B4-BE49-F238E27FC236}">
                <a16:creationId xmlns:a16="http://schemas.microsoft.com/office/drawing/2014/main" id="{80D73DC5-906D-4A8A-89B8-CE5C4F22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Порядок проверки</a:t>
            </a:r>
          </a:p>
        </p:txBody>
      </p:sp>
      <p:sp>
        <p:nvSpPr>
          <p:cNvPr id="4" name="text-78-286-Реальная задача">
            <a:extLst xmlns:a="http://schemas.openxmlformats.org/drawingml/2006/main">
              <a:ext uri="{FF2B5EF4-FFF2-40B4-BE49-F238E27FC236}">
                <a16:creationId xmlns:a16="http://schemas.microsoft.com/office/drawing/2014/main" id="{96DADAB3-4803-4C46-90B9-C59F8CE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Новый проект</a:t>
            </a:r>
          </a:p>
        </p:txBody>
      </p:sp>
      <p:sp>
        <p:nvSpPr>
          <p:cNvPr id="5" name="text-382-286-Подбор источников">
            <a:extLst xmlns:a="http://schemas.openxmlformats.org/drawingml/2006/main">
              <a:ext uri="{FF2B5EF4-FFF2-40B4-BE49-F238E27FC236}">
                <a16:creationId xmlns:a16="http://schemas.microsoft.com/office/drawing/2014/main" id="{A0F9248A-47FD-4271-B0E5-B67FFFF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Контекст и запуск</a:t>
            </a:r>
          </a:p>
        </p:txBody>
      </p:sp>
      <p:sp>
        <p:nvSpPr>
          <p:cNvPr id="6" name="text-730-286-Проверяемый brief">
            <a:extLst xmlns:a="http://schemas.openxmlformats.org/drawingml/2006/main">
              <a:ext uri="{FF2B5EF4-FFF2-40B4-BE49-F238E27FC236}">
                <a16:creationId xmlns:a16="http://schemas.microsoft.com/office/drawing/2014/main" id="{93184BDE-A25D-45D2-B9ED-40F380F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Уточнение и ответ</a:t>
            </a:r>
          </a:p>
        </p:txBody>
      </p:sp>
      <p:sp>
        <p:nvSpPr>
          <p:cNvPr id="7" name="text-78-398-Сохранение и ZIP">
            <a:extLst xmlns:a="http://schemas.openxmlformats.org/drawingml/2006/main">
              <a:ext uri="{FF2B5EF4-FFF2-40B4-BE49-F238E27FC236}">
                <a16:creationId xmlns:a16="http://schemas.microsoft.com/office/drawing/2014/main" id="{8A0E1EAD-B436-4170-8B38-07A1CA6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Сохранение и ZIP</a:t>
            </a:r>
          </a:p>
        </p:txBody>
      </p:sp>
      <p:sp>
        <p:nvSpPr>
          <p:cNvPr id="8" name="text-438-398-Открытие проекта">
            <a:extLst xmlns:a="http://schemas.openxmlformats.org/drawingml/2006/main">
              <a:ext uri="{FF2B5EF4-FFF2-40B4-BE49-F238E27FC236}">
                <a16:creationId xmlns:a16="http://schemas.microsoft.com/office/drawing/2014/main" id="{A9010419-1CAE-40FB-B4D5-7237879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Повторное открытие</a:t>
            </a:r>
          </a:p>
        </p:txBody>
      </p:sp>
      <p:sp>
        <p:nvSpPr>
          <p:cNvPr id="9" name="text-78-566-Экранов и пользовательского ">
            <a:extLst xmlns:a="http://schemas.openxmlformats.org/drawingml/2006/main">
              <a:ext uri="{FF2B5EF4-FFF2-40B4-BE49-F238E27FC236}">
                <a16:creationId xmlns:a16="http://schemas.microsoft.com/office/drawing/2014/main" id="{351E7E91-3BDC-4939-938F-037D4D92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Локально доступны проект и контекст. Полный путь требует реальных CTF, хранения и сервера.</a:t>
            </a:r>
          </a:p>
        </p:txBody>
      </p:sp>
      <p:sp>
        <p:nvSpPr>
          <p:cNvPr id="10" name="text-1150-668-09">
            <a:extLst xmlns:a="http://schemas.openxmlformats.org/drawingml/2006/main">
              <a:ext uri="{FF2B5EF4-FFF2-40B4-BE49-F238E27FC236}">
                <a16:creationId xmlns:a16="http://schemas.microsoft.com/office/drawing/2014/main" id="{35E091AA-7CDC-484A-850B-C3F4197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64324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10 · АЛЬТЕРНАТИВЫ">
            <a:extLst xmlns:a="http://schemas.openxmlformats.org/drawingml/2006/main">
              <a:ext uri="{FF2B5EF4-FFF2-40B4-BE49-F238E27FC236}">
                <a16:creationId xmlns:a16="http://schemas.microsoft.com/office/drawing/2014/main" id="{B15C8B94-B9F8-498A-BF66-C2AD42D0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10 · АЛЬТЕРНАТИВЫ</a:t>
            </a:r>
          </a:p>
        </p:txBody>
      </p:sp>
      <p:sp>
        <p:nvSpPr>
          <p:cNvPr id="2" name="text-78-95-Первые критерии сравнения за">
            <a:extLst xmlns:a="http://schemas.openxmlformats.org/drawingml/2006/main">
              <a:ext uri="{FF2B5EF4-FFF2-40B4-BE49-F238E27FC236}">
                <a16:creationId xmlns:a16="http://schemas.microsoft.com/office/drawing/2014/main" id="{C649D11E-E40D-4B62-ADAA-9277E5E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Первые критерии сравнения задают способы, которые описал R02</a:t>
            </a:r>
          </a:p>
        </p:txBody>
      </p:sp>
      <p:sp>
        <p:nvSpPr>
          <p:cNvPr id="3" name="text-78-222-Текущие способы">
            <a:extLst xmlns:a="http://schemas.openxmlformats.org/drawingml/2006/main">
              <a:ext uri="{FF2B5EF4-FFF2-40B4-BE49-F238E27FC236}">
                <a16:creationId xmlns:a16="http://schemas.microsoft.com/office/drawing/2014/main" id="{70097B61-628A-4F0D-B022-8DA85FC4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Текущие способы</a:t>
            </a:r>
          </a:p>
        </p:txBody>
      </p:sp>
      <p:sp>
        <p:nvSpPr>
          <p:cNvPr id="4" name="text-78-286-Поиск в сети&#10;AI&#10;Подрядчик">
            <a:extLst xmlns:a="http://schemas.openxmlformats.org/drawingml/2006/main">
              <a:ext uri="{FF2B5EF4-FFF2-40B4-BE49-F238E27FC236}">
                <a16:creationId xmlns:a16="http://schemas.microsoft.com/office/drawing/2014/main" id="{F16984CD-2FB2-4BC5-918B-0D54899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в сети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Подрядчик</a:t>
            </a:r>
          </a:p>
        </p:txBody>
      </p:sp>
      <p:sp>
        <p:nvSpPr>
          <p:cNvPr id="5" name="text-600-222-Что проверим у CoreTeams">
            <a:extLst xmlns:a="http://schemas.openxmlformats.org/drawingml/2006/main">
              <a:ext uri="{FF2B5EF4-FFF2-40B4-BE49-F238E27FC236}">
                <a16:creationId xmlns:a16="http://schemas.microsoft.com/office/drawing/2014/main" id="{50E84D16-BEBC-47D8-BCB4-25C843F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Что проверим у CoreTeams</a:t>
            </a:r>
          </a:p>
        </p:txBody>
      </p:sp>
      <p:sp>
        <p:nvSpPr>
          <p:cNvPr id="6" name="text-600-286-Насколько понятен следующий ">
            <a:extLst xmlns:a="http://schemas.openxmlformats.org/drawingml/2006/main">
              <a:ext uri="{FF2B5EF4-FFF2-40B4-BE49-F238E27FC236}">
                <a16:creationId xmlns:a16="http://schemas.microsoft.com/office/drawing/2014/main" id="{2EDAA25E-93D1-41D9-A317-ED29E0B8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Насколько понятен следующий шаг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Можно ли проверить ключевые источники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Что осталось неразрешённым</a:t>
            </a:r>
          </a:p>
        </p:txBody>
      </p:sp>
      <p:sp>
        <p:nvSpPr>
          <p:cNvPr id="7" name="text-78-562-Это план сравнения с текущим">
            <a:extLst xmlns:a="http://schemas.openxmlformats.org/drawingml/2006/main">
              <a:ext uri="{FF2B5EF4-FFF2-40B4-BE49-F238E27FC236}">
                <a16:creationId xmlns:a16="http://schemas.microsoft.com/office/drawing/2014/main" id="{972EE03D-56B0-4638-A082-D737B58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Это план сравнения с текущим способом R02. Конкуренты, цены и сравнительные преимущества ещё не исследованы.</a:t>
            </a:r>
          </a:p>
        </p:txBody>
      </p:sp>
      <p:sp>
        <p:nvSpPr>
          <p:cNvPr id="8" name="text-1150-668-10">
            <a:extLst xmlns:a="http://schemas.openxmlformats.org/drawingml/2006/main">
              <a:ext uri="{FF2B5EF4-FFF2-40B4-BE49-F238E27FC236}">
                <a16:creationId xmlns:a16="http://schemas.microsoft.com/office/drawing/2014/main" id="{5E66C267-64B1-44E6-891A-F55E5954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6879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11 · МЕТРИКИ">
            <a:extLst xmlns:a="http://schemas.openxmlformats.org/drawingml/2006/main">
              <a:ext uri="{FF2B5EF4-FFF2-40B4-BE49-F238E27FC236}">
                <a16:creationId xmlns:a16="http://schemas.microsoft.com/office/drawing/2014/main" id="{9ED6B5C9-01C1-4591-B906-31303407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11 · МЕТРИКИ</a:t>
            </a:r>
          </a:p>
        </p:txBody>
      </p:sp>
      <p:sp>
        <p:nvSpPr>
          <p:cNvPr id="2" name="text-78-95-Пользовательские результаты ">
            <a:extLst xmlns:a="http://schemas.openxmlformats.org/drawingml/2006/main">
              <a:ext uri="{FF2B5EF4-FFF2-40B4-BE49-F238E27FC236}">
                <a16:creationId xmlns:a16="http://schemas.microsoft.com/office/drawing/2014/main" id="{A9677CA5-02EE-4CFF-AC98-3F47E8E6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Пользовательские результаты и продуктовые метрики пока не измерены</a:t>
            </a:r>
          </a:p>
        </p:txBody>
      </p:sp>
      <p:sp>
        <p:nvSpPr>
          <p:cNvPr id="3" name="text-78-236-ДО ПРОТОТИПА">
            <a:extLst xmlns:a="http://schemas.openxmlformats.org/drawingml/2006/main">
              <a:ext uri="{FF2B5EF4-FFF2-40B4-BE49-F238E27FC236}">
                <a16:creationId xmlns:a16="http://schemas.microsoft.com/office/drawing/2014/main" id="{13983D3F-3B67-4B14-8D48-A4E68B60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ДО ПРОТОТИПА</a:t>
            </a:r>
          </a:p>
        </p:txBody>
      </p:sp>
      <p:sp>
        <p:nvSpPr>
          <p:cNvPr id="4" name="text-78-298-NOT RUN">
            <a:extLst xmlns:a="http://schemas.openxmlformats.org/drawingml/2006/main">
              <a:ext uri="{FF2B5EF4-FFF2-40B4-BE49-F238E27FC236}">
                <a16:creationId xmlns:a16="http://schemas.microsoft.com/office/drawing/2014/main" id="{447804DA-49F4-48F6-B999-ADD0E04E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NOT RUN</a:t>
            </a:r>
          </a:p>
        </p:txBody>
      </p:sp>
      <p:sp>
        <p:nvSpPr>
          <p:cNvPr id="5" name="text-78-380-Активное время&#10;Ожидание и па">
            <a:extLst xmlns:a="http://schemas.openxmlformats.org/drawingml/2006/main">
              <a:ext uri="{FF2B5EF4-FFF2-40B4-BE49-F238E27FC236}">
                <a16:creationId xmlns:a16="http://schemas.microsoft.com/office/drawing/2014/main" id="{E44F3C5D-6A35-4741-B023-954727DD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Этапы текущего способа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Активное время и ожидание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Перепроверка источников</a:t>
            </a:r>
          </a:p>
        </p:txBody>
      </p:sp>
      <p:sp>
        <p:nvSpPr>
          <p:cNvPr id="6" name="text-666-236-С ПРОТОТИПОМ">
            <a:extLst xmlns:a="http://schemas.openxmlformats.org/drawingml/2006/main">
              <a:ext uri="{FF2B5EF4-FFF2-40B4-BE49-F238E27FC236}">
                <a16:creationId xmlns:a16="http://schemas.microsoft.com/office/drawing/2014/main" id="{14522EE1-AEEB-433E-BA0B-9FBB91D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С ПРОТОТИПОМ</a:t>
            </a:r>
          </a:p>
        </p:txBody>
      </p:sp>
      <p:sp>
        <p:nvSpPr>
          <p:cNvPr id="7" name="text-666-298-NOT RUN">
            <a:extLst xmlns:a="http://schemas.openxmlformats.org/drawingml/2006/main">
              <a:ext uri="{FF2B5EF4-FFF2-40B4-BE49-F238E27FC236}">
                <a16:creationId xmlns:a16="http://schemas.microsoft.com/office/drawing/2014/main" id="{4CF2AC63-2946-4665-BD54-7910F012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NOT RUN</a:t>
            </a:r>
          </a:p>
        </p:txBody>
      </p:sp>
      <p:sp>
        <p:nvSpPr>
          <p:cNvPr id="8" name="text-666-380-Завершение задачи&#10;Ошибки и з">
            <a:extLst xmlns:a="http://schemas.openxmlformats.org/drawingml/2006/main">
              <a:ext uri="{FF2B5EF4-FFF2-40B4-BE49-F238E27FC236}">
                <a16:creationId xmlns:a16="http://schemas.microsoft.com/office/drawing/2014/main" id="{91055BA1-A9D8-4CD6-AD57-3FD7663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Завершение каждого шага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Затруднения и запросы помощи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Проверка и применимость результата</a:t>
            </a:r>
          </a:p>
        </p:txBody>
      </p:sp>
      <p:sp>
        <p:nvSpPr>
          <p:cNvPr id="9" name="text-78-566-Пустое значение означает «не">
            <a:extLst xmlns:a="http://schemas.openxmlformats.org/drawingml/2006/main">
              <a:ext uri="{FF2B5EF4-FFF2-40B4-BE49-F238E27FC236}">
                <a16:creationId xmlns:a16="http://schemas.microsoft.com/office/drawing/2014/main" id="{54D5FDC8-49DD-4D7E-8BAD-10CD004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Пустое значение означает «не собрано», а не ноль.</a:t>
            </a:r>
          </a:p>
        </p:txBody>
      </p:sp>
      <p:sp>
        <p:nvSpPr>
          <p:cNvPr id="10" name="text-1150-668-11">
            <a:extLst xmlns:a="http://schemas.openxmlformats.org/drawingml/2006/main">
              <a:ext uri="{FF2B5EF4-FFF2-40B4-BE49-F238E27FC236}">
                <a16:creationId xmlns:a16="http://schemas.microsoft.com/office/drawing/2014/main" id="{69B6A995-1CC1-47F0-9B30-170F490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86617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-47-12 · ЭКОНОМИКА И ТАРИФ">
            <a:extLst xmlns:a="http://schemas.openxmlformats.org/drawingml/2006/main">
              <a:ext uri="{FF2B5EF4-FFF2-40B4-BE49-F238E27FC236}">
                <a16:creationId xmlns:a16="http://schemas.microsoft.com/office/drawing/2014/main" id="{A3046917-1236-4AA0-BFF7-42F7731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12 · ЭКОНОМИКА И ТАРИФ</a:t>
            </a:r>
          </a:p>
        </p:txBody>
      </p:sp>
      <p:sp>
        <p:nvSpPr>
          <p:cNvPr id="2" name="text-78-95-Тариф появится после измерен">
            <a:extLst xmlns:a="http://schemas.openxmlformats.org/drawingml/2006/main">
              <a:ext uri="{FF2B5EF4-FFF2-40B4-BE49-F238E27FC236}">
                <a16:creationId xmlns:a16="http://schemas.microsoft.com/office/drawing/2014/main" id="{E6BA8A4D-AB63-471D-9EE7-E2024549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Тариф появится после измерения ценности и себестоимости одного запуска</a:t>
            </a:r>
          </a:p>
        </p:txBody>
      </p:sp>
      <p:sp>
        <p:nvSpPr>
          <p:cNvPr id="3" name="text-80-232-Ценность для владельца">
            <a:extLst xmlns:a="http://schemas.openxmlformats.org/drawingml/2006/main">
              <a:ext uri="{FF2B5EF4-FFF2-40B4-BE49-F238E27FC236}">
                <a16:creationId xmlns:a16="http://schemas.microsoft.com/office/drawing/2014/main" id="{785C83D1-54F6-4990-85CF-1A94F9F2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Ценность для владельца</a:t>
            </a:r>
          </a:p>
        </p:txBody>
      </p:sp>
      <p:sp>
        <p:nvSpPr>
          <p:cNvPr id="4" name="text-80-298-Сравнить активное время, ожи">
            <a:extLst xmlns:a="http://schemas.openxmlformats.org/drawingml/2006/main">
              <a:ext uri="{FF2B5EF4-FFF2-40B4-BE49-F238E27FC236}">
                <a16:creationId xmlns:a16="http://schemas.microsoft.com/office/drawing/2014/main" id="{B27646BA-258A-481B-8076-6EDFF924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Сравнить активное время, ожидание и переделки на одной задаче до и после прототипа.</a:t>
            </a:r>
          </a:p>
        </p:txBody>
      </p:sp>
      <p:sp>
        <p:nvSpPr>
          <p:cNvPr id="5" name="text-670-232-Себестоимость запуска">
            <a:extLst xmlns:a="http://schemas.openxmlformats.org/drawingml/2006/main">
              <a:ext uri="{FF2B5EF4-FFF2-40B4-BE49-F238E27FC236}">
                <a16:creationId xmlns:a16="http://schemas.microsoft.com/office/drawing/2014/main" id="{4B68D180-B4E2-4E18-B5A3-E953F2FE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Себестоимость запуска</a:t>
            </a:r>
          </a:p>
        </p:txBody>
      </p:sp>
      <p:sp>
        <p:nvSpPr>
          <p:cNvPr id="6" name="text-670-298-Учесть внешние сервисы, рабо">
            <a:extLst xmlns:a="http://schemas.openxmlformats.org/drawingml/2006/main">
              <a:ext uri="{FF2B5EF4-FFF2-40B4-BE49-F238E27FC236}">
                <a16:creationId xmlns:a16="http://schemas.microsoft.com/office/drawing/2014/main" id="{FC41E04D-AEBB-4834-AEF3-B94D93EF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419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Учесть внешние сервисы, работу оператора, проверку результата, хранение и поддержку.</a:t>
            </a:r>
          </a:p>
        </p:txBody>
      </p:sp>
      <p:sp>
        <p:nvSpPr>
          <p:cNvPr id="7" name="text-80-568-Цена пока не установлена. Не">
            <a:extLst xmlns:a="http://schemas.openxmlformats.org/drawingml/2006/main">
              <a:ext uri="{FF2B5EF4-FFF2-40B4-BE49-F238E27FC236}">
                <a16:creationId xmlns:a16="http://schemas.microsoft.com/office/drawing/2014/main" id="{21841C95-BF12-4F58-87B7-495A8C2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Цена пока не установлена. Нет данных ни для unit economics, ни для сравнения с альтернативами.</a:t>
            </a:r>
          </a:p>
        </p:txBody>
      </p:sp>
      <p:sp>
        <p:nvSpPr>
          <p:cNvPr id="8" name="text-1150-668-12">
            <a:extLst xmlns:a="http://schemas.openxmlformats.org/drawingml/2006/main">
              <a:ext uri="{FF2B5EF4-FFF2-40B4-BE49-F238E27FC236}">
                <a16:creationId xmlns:a16="http://schemas.microsoft.com/office/drawing/2014/main" id="{5991E8D1-2308-4D74-AA15-4A5E18F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7771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8-47-13 · СЛЕДУЮЩИЙ СПРИНТ">
            <a:extLst xmlns:a="http://schemas.openxmlformats.org/drawingml/2006/main">
              <a:ext uri="{FF2B5EF4-FFF2-40B4-BE49-F238E27FC236}">
                <a16:creationId xmlns:a16="http://schemas.microsoft.com/office/drawing/2014/main" id="{6310D2CE-53FE-4DA0-8CE2-97D8064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13 · СЛЕДУЮЩИЙ СПРИНТ</a:t>
            </a:r>
          </a:p>
        </p:txBody>
      </p:sp>
      <p:sp>
        <p:nvSpPr>
          <p:cNvPr id="2" name="text-78-95-Следующий проход требует уча">
            <a:extLst xmlns:a="http://schemas.openxmlformats.org/drawingml/2006/main">
              <a:ext uri="{FF2B5EF4-FFF2-40B4-BE49-F238E27FC236}">
                <a16:creationId xmlns:a16="http://schemas.microsoft.com/office/drawing/2014/main" id="{8912512C-AC04-4843-9FC7-532BD23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проход требует участника, согласия и проверенного пути</a:t>
            </a:r>
          </a:p>
        </p:txBody>
      </p:sp>
      <p:sp>
        <p:nvSpPr>
          <p:cNvPr id="3" name="text-78-222-1 · Найти подходящего владел">
            <a:extLst xmlns:a="http://schemas.openxmlformats.org/drawingml/2006/main">
              <a:ext uri="{FF2B5EF4-FFF2-40B4-BE49-F238E27FC236}">
                <a16:creationId xmlns:a16="http://schemas.microsoft.com/office/drawing/2014/main" id="{7F84EA63-DF96-45BD-B00F-C9E03CA2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· Найти подходящего владельца</a:t>
            </a:r>
          </a:p>
        </p:txBody>
      </p:sp>
      <p:sp>
        <p:nvSpPr>
          <p:cNvPr id="4" name="text-78-274-Катя: проверить критерии, по">
            <a:extLst xmlns:a="http://schemas.openxmlformats.org/drawingml/2006/main">
              <a:ext uri="{FF2B5EF4-FFF2-40B4-BE49-F238E27FC236}">
                <a16:creationId xmlns:a16="http://schemas.microsoft.com/office/drawing/2014/main" id="{9EDCE1F7-CD8D-4001-839F-AE68F102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Катя: проверить критерии, получить отдельную готовность и согласие.</a:t>
            </a:r>
          </a:p>
        </p:txBody>
      </p:sp>
      <p:sp>
        <p:nvSpPr>
          <p:cNvPr id="5" name="text-650-222-2 · Закрыть технические усло">
            <a:extLst xmlns:a="http://schemas.openxmlformats.org/drawingml/2006/main">
              <a:ext uri="{FF2B5EF4-FFF2-40B4-BE49-F238E27FC236}">
                <a16:creationId xmlns:a16="http://schemas.microsoft.com/office/drawing/2014/main" id="{0EA8278C-3C67-4A11-AB46-3A178B77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· Закрыть технические условия</a:t>
            </a:r>
          </a:p>
        </p:txBody>
      </p:sp>
      <p:sp>
        <p:nvSpPr>
          <p:cNvPr id="6" name="text-650-274-Илья: CTF-контракт. Арина: с">
            <a:extLst xmlns:a="http://schemas.openxmlformats.org/drawingml/2006/main">
              <a:ext uri="{FF2B5EF4-FFF2-40B4-BE49-F238E27FC236}">
                <a16:creationId xmlns:a16="http://schemas.microsoft.com/office/drawing/2014/main" id="{A417919A-25BE-47B6-91D5-8079F83E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Илья: CTF-контракт. Арина: схема хранения. Филипп: CI, сервер и готовность к тесту.</a:t>
            </a:r>
          </a:p>
        </p:txBody>
      </p:sp>
      <p:sp>
        <p:nvSpPr>
          <p:cNvPr id="7" name="text-78-396-3 · Зафиксировать исходный з">
            <a:extLst xmlns:a="http://schemas.openxmlformats.org/drawingml/2006/main">
              <a:ext uri="{FF2B5EF4-FFF2-40B4-BE49-F238E27FC236}">
                <a16:creationId xmlns:a16="http://schemas.microsoft.com/office/drawing/2014/main" id="{F3AD96F9-ECCF-4296-B979-F58804A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Зафиксировать исходный замер</a:t>
            </a:r>
          </a:p>
        </p:txBody>
      </p:sp>
      <p:sp>
        <p:nvSpPr>
          <p:cNvPr id="8" name="text-78-448-К прототипу перейти после пр">
            <a:extLst xmlns:a="http://schemas.openxmlformats.org/drawingml/2006/main">
              <a:ext uri="{FF2B5EF4-FFF2-40B4-BE49-F238E27FC236}">
                <a16:creationId xmlns:a16="http://schemas.microsoft.com/office/drawing/2014/main" id="{A563A17A-468D-4181-B22A-872D2AE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К прототипу перейти после проверки пути и отдельного согласия.</a:t>
            </a:r>
          </a:p>
        </p:txBody>
      </p:sp>
      <p:sp>
        <p:nvSpPr>
          <p:cNvPr id="9" name="text-650-432-Запрошенный срок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F4650332-1620-4C02-A363-4EFB8522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829"/>
                </a:solidFill>
                <a:latin typeface="Arial"/>
                <a:ea typeface="Arial"/>
                <a:cs typeface="Arial"/>
              </a:rPr>
              <a:t>Запрошенный срок результатов: 17 октября, 00:59 MSK. Это целевой срок, не подтверждение готовности зависимостей.</a:t>
            </a:r>
          </a:p>
        </p:txBody>
      </p:sp>
      <p:sp>
        <p:nvSpPr>
          <p:cNvPr id="10" name="text-1150-668-13">
            <a:extLst xmlns:a="http://schemas.openxmlformats.org/drawingml/2006/main">
              <a:ext uri="{FF2B5EF4-FFF2-40B4-BE49-F238E27FC236}">
                <a16:creationId xmlns:a16="http://schemas.microsoft.com/office/drawing/2014/main" id="{822EFC01-6723-4494-B20E-DA1D2C8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6392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8-47-14 · ТЕХНОЛОГИЧЕСКИЙ СТЕК">
            <a:extLst xmlns:a="http://schemas.openxmlformats.org/drawingml/2006/main">
              <a:ext uri="{FF2B5EF4-FFF2-40B4-BE49-F238E27FC236}">
                <a16:creationId xmlns:a16="http://schemas.microsoft.com/office/drawing/2014/main" id="{3CC9779C-C497-46A2-83CA-2DA8F385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14 · ТЕХНОЛОГИЧЕСКИЙ СТЕК</a:t>
            </a:r>
          </a:p>
        </p:txBody>
      </p:sp>
      <p:sp>
        <p:nvSpPr>
          <p:cNvPr id="2" name="text-78-95-WEB-сборка проходит проверки">
            <a:extLst xmlns:a="http://schemas.openxmlformats.org/drawingml/2006/main">
              <a:ext uri="{FF2B5EF4-FFF2-40B4-BE49-F238E27FC236}">
                <a16:creationId xmlns:a16="http://schemas.microsoft.com/office/drawing/2014/main" id="{1AE86F58-18C4-4816-9A46-28C54AD1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WEB-сборка проходит проверки, а серверный путь ещё требует подтверждения</a:t>
            </a:r>
          </a:p>
        </p:txBody>
      </p:sp>
      <p:sp>
        <p:nvSpPr>
          <p:cNvPr id="3" name="text-78-226-React 19.3.0 · Vite 8.3.4 · ">
            <a:extLst xmlns:a="http://schemas.openxmlformats.org/drawingml/2006/main">
              <a:ext uri="{FF2B5EF4-FFF2-40B4-BE49-F238E27FC236}">
                <a16:creationId xmlns:a16="http://schemas.microsoft.com/office/drawing/2014/main" id="{94A805A3-45F9-4FC2-997A-31E0940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19.3.0 · Vite 8.3.4 · TypeScript 5.9</a:t>
            </a:r>
          </a:p>
        </p:txBody>
      </p:sp>
      <p:sp>
        <p:nvSpPr>
          <p:cNvPr id="4" name="text-80-305-Сборка для запуска и 8 модул">
            <a:extLst xmlns:a="http://schemas.openxmlformats.org/drawingml/2006/main">
              <a:ext uri="{FF2B5EF4-FFF2-40B4-BE49-F238E27FC236}">
                <a16:creationId xmlns:a16="http://schemas.microsoft.com/office/drawing/2014/main" id="{08147468-8517-406F-B2D2-DDD7284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Сборка для запуска и 8 модульных проверок прошли</a:t>
            </a:r>
          </a:p>
        </p:txBody>
      </p:sp>
      <p:sp>
        <p:nvSpPr>
          <p:cNvPr id="5" name="text-80-374-Браузерные проверки на компь">
            <a:extLst xmlns:a="http://schemas.openxmlformats.org/drawingml/2006/main">
              <a:ext uri="{FF2B5EF4-FFF2-40B4-BE49-F238E27FC236}">
                <a16:creationId xmlns:a16="http://schemas.microsoft.com/office/drawing/2014/main" id="{D907B882-5595-41EC-828F-1345A274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Браузерные проверки на компьютере и телефоне прошли. API предложен; CTF и сохранение на сервере не подключены.</a:t>
            </a:r>
          </a:p>
        </p:txBody>
      </p:sp>
      <p:sp>
        <p:nvSpPr>
          <p:cNvPr id="6" name="text-680-306-CTF контракт">
            <a:extLst xmlns:a="http://schemas.openxmlformats.org/drawingml/2006/main">
              <a:ext uri="{FF2B5EF4-FFF2-40B4-BE49-F238E27FC236}">
                <a16:creationId xmlns:a16="http://schemas.microsoft.com/office/drawing/2014/main" id="{76EABFE9-2D95-42EE-8F9B-1D7D6B5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CTF контракт</a:t>
            </a:r>
          </a:p>
        </p:txBody>
      </p:sp>
      <p:sp>
        <p:nvSpPr>
          <p:cNvPr id="7" name="text-680-356-Требует подтверждения Ильи">
            <a:extLst xmlns:a="http://schemas.openxmlformats.org/drawingml/2006/main">
              <a:ext uri="{FF2B5EF4-FFF2-40B4-BE49-F238E27FC236}">
                <a16:creationId xmlns:a16="http://schemas.microsoft.com/office/drawing/2014/main" id="{C86900B0-D04B-4E20-8BF6-E3DE29D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Требует подтверждения Ильи</a:t>
            </a:r>
          </a:p>
        </p:txBody>
      </p:sp>
      <p:sp>
        <p:nvSpPr>
          <p:cNvPr id="8" name="text-680-432-Хранилище и деплой">
            <a:extLst xmlns:a="http://schemas.openxmlformats.org/drawingml/2006/main">
              <a:ext uri="{FF2B5EF4-FFF2-40B4-BE49-F238E27FC236}">
                <a16:creationId xmlns:a16="http://schemas.microsoft.com/office/drawing/2014/main" id="{3BA6B3FA-6618-4251-888C-78A0B492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Хранилище и деплой</a:t>
            </a:r>
          </a:p>
        </p:txBody>
      </p:sp>
      <p:sp>
        <p:nvSpPr>
          <p:cNvPr id="9" name="text-680-480-Архитектура Арины и DEPLOYME">
            <a:extLst xmlns:a="http://schemas.openxmlformats.org/drawingml/2006/main">
              <a:ext uri="{FF2B5EF4-FFF2-40B4-BE49-F238E27FC236}">
                <a16:creationId xmlns:a16="http://schemas.microsoft.com/office/drawing/2014/main" id="{B617CB61-70E2-4891-92F0-D5CD9C9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Архитектура Арины и DEPLOYMENT_READY Филиппа не подтверждены</a:t>
            </a:r>
          </a:p>
        </p:txBody>
      </p:sp>
      <p:sp>
        <p:nvSpPr>
          <p:cNvPr id="10" name="text-80-582-Frontend-проверки не доказыв">
            <a:extLst xmlns:a="http://schemas.openxmlformats.org/drawingml/2006/main">
              <a:ext uri="{FF2B5EF4-FFF2-40B4-BE49-F238E27FC236}">
                <a16:creationId xmlns:a16="http://schemas.microsoft.com/office/drawing/2014/main" id="{86046D3B-8653-4207-B96D-5EFF972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9A9A9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9A9A"/>
                </a:solidFill>
                <a:latin typeface="Arial"/>
                <a:ea typeface="Arial"/>
                <a:cs typeface="Arial"/>
              </a:rPr>
              <a:t>Frontend-проверки не доказывают интеграцию, постоянную запись или готовность деплоя.</a:t>
            </a:r>
          </a:p>
        </p:txBody>
      </p:sp>
      <p:sp>
        <p:nvSpPr>
          <p:cNvPr id="11" name="text-1150-668-14">
            <a:extLst xmlns:a="http://schemas.openxmlformats.org/drawingml/2006/main">
              <a:ext uri="{FF2B5EF4-FFF2-40B4-BE49-F238E27FC236}">
                <a16:creationId xmlns:a16="http://schemas.microsoft.com/office/drawing/2014/main" id="{311908BA-BEB1-40CB-862B-3E431E12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99567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78-47-15 · КОМАНДА И СЛЕДУЮЩЕЕ РЕШ">
            <a:extLst xmlns:a="http://schemas.openxmlformats.org/drawingml/2006/main">
              <a:ext uri="{FF2B5EF4-FFF2-40B4-BE49-F238E27FC236}">
                <a16:creationId xmlns:a16="http://schemas.microsoft.com/office/drawing/2014/main" id="{4C7229CE-2119-4FA4-8A2A-F00CF5BA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15 · КОМАНДА И СЛЕДУЮЩЕЕ РЕШЕНИЕ</a:t>
            </a:r>
          </a:p>
        </p:txBody>
      </p:sp>
      <p:sp>
        <p:nvSpPr>
          <p:cNvPr id="2" name="text-78-95-Пять ролей ведут от гипотезы">
            <a:extLst xmlns:a="http://schemas.openxmlformats.org/drawingml/2006/main">
              <a:ext uri="{FF2B5EF4-FFF2-40B4-BE49-F238E27FC236}">
                <a16:creationId xmlns:a16="http://schemas.microsoft.com/office/drawing/2014/main" id="{78C69000-B0A2-459B-9FB4-05B6BA2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и зоны ответственности</a:t>
            </a:r>
          </a:p>
        </p:txBody>
      </p:sp>
      <p:sp>
        <p:nvSpPr>
          <p:cNvPr id="3" name="text-78-210-Катя">
            <a:extLst xmlns:a="http://schemas.openxmlformats.org/drawingml/2006/main">
              <a:ext uri="{FF2B5EF4-FFF2-40B4-BE49-F238E27FC236}">
                <a16:creationId xmlns:a16="http://schemas.microsoft.com/office/drawing/2014/main" id="{77163E59-8E6F-4225-B3F0-F9EECEF4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Катя</a:t>
            </a:r>
          </a:p>
        </p:txBody>
      </p:sp>
      <p:sp>
        <p:nvSpPr>
          <p:cNvPr id="4" name="text-248-210-WEB и метрики">
            <a:extLst xmlns:a="http://schemas.openxmlformats.org/drawingml/2006/main">
              <a:ext uri="{FF2B5EF4-FFF2-40B4-BE49-F238E27FC236}">
                <a16:creationId xmlns:a16="http://schemas.microsoft.com/office/drawing/2014/main" id="{088039B9-0C3F-4700-B68F-4D8C1DD9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и метрики</a:t>
            </a:r>
          </a:p>
        </p:txBody>
      </p:sp>
      <p:sp>
        <p:nvSpPr>
          <p:cNvPr id="5" name="text-78-278-Илья">
            <a:extLst xmlns:a="http://schemas.openxmlformats.org/drawingml/2006/main">
              <a:ext uri="{FF2B5EF4-FFF2-40B4-BE49-F238E27FC236}">
                <a16:creationId xmlns:a16="http://schemas.microsoft.com/office/drawing/2014/main" id="{A226ACBF-8087-4207-9596-BEC873A4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Илья</a:t>
            </a:r>
          </a:p>
        </p:txBody>
      </p:sp>
      <p:sp>
        <p:nvSpPr>
          <p:cNvPr id="6" name="text-248-278-CTF интеграция">
            <a:extLst xmlns:a="http://schemas.openxmlformats.org/drawingml/2006/main">
              <a:ext uri="{FF2B5EF4-FFF2-40B4-BE49-F238E27FC236}">
                <a16:creationId xmlns:a16="http://schemas.microsoft.com/office/drawing/2014/main" id="{EE3F4F84-E7DC-4CA3-9E56-06312596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CTF интеграция</a:t>
            </a:r>
          </a:p>
        </p:txBody>
      </p:sp>
      <p:sp>
        <p:nvSpPr>
          <p:cNvPr id="7" name="text-78-346-Арина">
            <a:extLst xmlns:a="http://schemas.openxmlformats.org/drawingml/2006/main">
              <a:ext uri="{FF2B5EF4-FFF2-40B4-BE49-F238E27FC236}">
                <a16:creationId xmlns:a16="http://schemas.microsoft.com/office/drawing/2014/main" id="{A648CA76-2D2F-4587-A3CD-36616ACB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Арина</a:t>
            </a:r>
          </a:p>
        </p:txBody>
      </p:sp>
      <p:sp>
        <p:nvSpPr>
          <p:cNvPr id="8" name="text-248-346-Архитектура хранения">
            <a:extLst xmlns:a="http://schemas.openxmlformats.org/drawingml/2006/main">
              <a:ext uri="{FF2B5EF4-FFF2-40B4-BE49-F238E27FC236}">
                <a16:creationId xmlns:a16="http://schemas.microsoft.com/office/drawing/2014/main" id="{3452EB73-8A22-4AC4-9831-F2983ECB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Архитектура хранения</a:t>
            </a:r>
          </a:p>
        </p:txBody>
      </p:sp>
      <p:sp>
        <p:nvSpPr>
          <p:cNvPr id="9" name="text-680-210-Филипп">
            <a:extLst xmlns:a="http://schemas.openxmlformats.org/drawingml/2006/main">
              <a:ext uri="{FF2B5EF4-FFF2-40B4-BE49-F238E27FC236}">
                <a16:creationId xmlns:a16="http://schemas.microsoft.com/office/drawing/2014/main" id="{7800E8E9-EAC2-487C-9982-8EE19531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Филипп</a:t>
            </a:r>
          </a:p>
        </p:txBody>
      </p:sp>
      <p:sp>
        <p:nvSpPr>
          <p:cNvPr id="10" name="text-862-210-CI, деплой, подключение хран">
            <a:extLst xmlns:a="http://schemas.openxmlformats.org/drawingml/2006/main">
              <a:ext uri="{FF2B5EF4-FFF2-40B4-BE49-F238E27FC236}">
                <a16:creationId xmlns:a16="http://schemas.microsoft.com/office/drawing/2014/main" id="{0AFEAFA3-456D-4F15-A019-6A1F38DA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CI, деплой, подключение хранения</a:t>
            </a:r>
          </a:p>
        </p:txBody>
      </p:sp>
      <p:sp>
        <p:nvSpPr>
          <p:cNvPr id="11" name="text-680-322-Дмитрий">
            <a:extLst xmlns:a="http://schemas.openxmlformats.org/drawingml/2006/main">
              <a:ext uri="{FF2B5EF4-FFF2-40B4-BE49-F238E27FC236}">
                <a16:creationId xmlns:a16="http://schemas.microsoft.com/office/drawing/2014/main" id="{A91F95B2-0350-47DD-85F4-4405AEF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8052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052FF"/>
                </a:solidFill>
                <a:latin typeface="Arial"/>
                <a:ea typeface="Arial"/>
                <a:cs typeface="Arial"/>
              </a:rPr>
              <a:t>Дмитрий</a:t>
            </a:r>
          </a:p>
        </p:txBody>
      </p:sp>
      <p:sp>
        <p:nvSpPr>
          <p:cNvPr id="12" name="text-862-322-Точечная помощь с React толь">
            <a:extLst xmlns:a="http://schemas.openxmlformats.org/drawingml/2006/main">
              <a:ext uri="{FF2B5EF4-FFF2-40B4-BE49-F238E27FC236}">
                <a16:creationId xmlns:a16="http://schemas.microsoft.com/office/drawing/2014/main" id="{78BC8595-0C91-41E3-9E49-9AD5244A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Gateway, контракт и подключение runner</a:t>
            </a:r>
          </a:p>
        </p:txBody>
      </p:sp>
      <p:sp>
        <p:nvSpPr>
          <p:cNvPr id="13" name="text-78-536-Следующее решение: проверить">
            <a:extLst xmlns:a="http://schemas.openxmlformats.org/drawingml/2006/main">
              <a:ext uri="{FF2B5EF4-FFF2-40B4-BE49-F238E27FC236}">
                <a16:creationId xmlns:a16="http://schemas.microsoft.com/office/drawing/2014/main" id="{E784BFC2-1AAB-4CA5-B2D0-3E8F5AE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FB8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29"/>
                </a:solidFill>
                <a:latin typeface="Arial"/>
                <a:ea typeface="Arial"/>
                <a:cs typeface="Arial"/>
              </a:rPr>
              <a:t>Следующее решение: проверить WEB, согласовать CTF и storage, затем подтвердить полный путь до приглашения пользователя.</a:t>
            </a:r>
          </a:p>
        </p:txBody>
      </p:sp>
      <p:sp>
        <p:nvSpPr>
          <p:cNvPr id="14" name="text-1150-668-15">
            <a:extLst xmlns:a="http://schemas.openxmlformats.org/drawingml/2006/main">
              <a:ext uri="{FF2B5EF4-FFF2-40B4-BE49-F238E27FC236}">
                <a16:creationId xmlns:a16="http://schemas.microsoft.com/office/drawing/2014/main" id="{1236A85E-9EBD-4844-A9E8-11D9E128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F5F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45732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2026-10-15T00:52:38.2610000Z</dcterms:created>
  <dcterms:modified xsi:type="dcterms:W3CDTF">2026-10-15T00:52:38.2610000Z</dcterms:modified>
</coreProperties>
</file>